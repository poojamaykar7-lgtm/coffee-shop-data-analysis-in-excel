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charts/chart5.xml" ContentType="application/vnd.openxmlformats-officedocument.drawingml.chart+xml"/>
  <Override PartName="/ppt/charts/style4.xml" ContentType="application/vnd.ms-office.chartstyle+xml"/>
  <Override PartName="/ppt/charts/colors4.xml" ContentType="application/vnd.ms-office.chartcolorstyl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style5.xml" ContentType="application/vnd.ms-office.chartstyle+xml"/>
  <Override PartName="/ppt/charts/colors5.xml" ContentType="application/vnd.ms-office.chartcolorstyle+xml"/>
  <Override PartName="/ppt/charts/chart9.xml" ContentType="application/vnd.openxmlformats-officedocument.drawingml.chart+xml"/>
  <Override PartName="/ppt/charts/style6.xml" ContentType="application/vnd.ms-office.chartstyle+xml"/>
  <Override PartName="/ppt/charts/colors6.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7" r:id="rId3"/>
    <p:sldId id="258" r:id="rId4"/>
    <p:sldId id="265"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E6D5AD-59C5-46A9-BFC8-1A46705625C5}" v="95" dt="2025-10-12T21:41:00.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283"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charts/_rels/chart1.xml.rels><?xml version="1.0" encoding="UTF-8" standalone="yes"?>
<Relationships xmlns="http://schemas.openxmlformats.org/package/2006/relationships"><Relationship Id="rId3" Type="http://schemas.openxmlformats.org/officeDocument/2006/relationships/oleObject" Target="file:///D:\excel%20coffee%20sales%20fin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excel%20coffee%20sales%20fina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file:///D:\excel%20coffee%20sales%20final.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D:\excel%20coffee%20sales%20final.xlsx" TargetMode="External"/><Relationship Id="rId2" Type="http://schemas.microsoft.com/office/2011/relationships/chartColorStyle" Target="colors3.xml"/><Relationship Id="rId1" Type="http://schemas.microsoft.com/office/2011/relationships/chartStyle" Target="style3.xml"/></Relationships>
</file>

<file path=ppt/charts/_rels/chart5.xml.rels><?xml version="1.0" encoding="UTF-8" standalone="yes"?>
<Relationships xmlns="http://schemas.openxmlformats.org/package/2006/relationships"><Relationship Id="rId3" Type="http://schemas.openxmlformats.org/officeDocument/2006/relationships/oleObject" Target="file:///D:\excel%20coffee%20sales%20final.xlsx" TargetMode="External"/><Relationship Id="rId2" Type="http://schemas.microsoft.com/office/2011/relationships/chartColorStyle" Target="colors4.xml"/><Relationship Id="rId1" Type="http://schemas.microsoft.com/office/2011/relationships/chartStyle" Target="style4.xml"/></Relationships>
</file>

<file path=ppt/charts/_rels/chart6.xml.rels><?xml version="1.0" encoding="UTF-8" standalone="yes"?>
<Relationships xmlns="http://schemas.openxmlformats.org/package/2006/relationships"><Relationship Id="rId1" Type="http://schemas.openxmlformats.org/officeDocument/2006/relationships/oleObject" Target="file:///D:\excel%20coffee%20sales%20final.xlsx" TargetMode="External"/></Relationships>
</file>

<file path=ppt/charts/_rels/chart7.xml.rels><?xml version="1.0" encoding="UTF-8" standalone="yes"?>
<Relationships xmlns="http://schemas.openxmlformats.org/package/2006/relationships"><Relationship Id="rId1" Type="http://schemas.openxmlformats.org/officeDocument/2006/relationships/oleObject" Target="file:///D:\excel%20coffee%20sales%20final.xlsx" TargetMode="External"/></Relationships>
</file>

<file path=ppt/charts/_rels/chart8.xml.rels><?xml version="1.0" encoding="UTF-8" standalone="yes"?>
<Relationships xmlns="http://schemas.openxmlformats.org/package/2006/relationships"><Relationship Id="rId3" Type="http://schemas.openxmlformats.org/officeDocument/2006/relationships/oleObject" Target="file:///D:\excel%20coffee%20sales%20final.xlsx" TargetMode="External"/><Relationship Id="rId2" Type="http://schemas.microsoft.com/office/2011/relationships/chartColorStyle" Target="colors5.xml"/><Relationship Id="rId1" Type="http://schemas.microsoft.com/office/2011/relationships/chartStyle" Target="style5.xml"/></Relationships>
</file>

<file path=ppt/charts/_rels/chart9.xml.rels><?xml version="1.0" encoding="UTF-8" standalone="yes"?>
<Relationships xmlns="http://schemas.openxmlformats.org/package/2006/relationships"><Relationship Id="rId3" Type="http://schemas.openxmlformats.org/officeDocument/2006/relationships/oleObject" Target="file:///D:\excel%20coffee%20sales%20final.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final.xlsx]pivot!PivotTable1</c:name>
    <c:fmtId val="35"/>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solidFill>
                  <a:srgbClr val="38220F"/>
                </a:solidFill>
              </a:rPr>
              <a:t>Quantity</a:t>
            </a:r>
            <a:r>
              <a:rPr lang="en-US" b="1" baseline="0">
                <a:solidFill>
                  <a:srgbClr val="38220F"/>
                </a:solidFill>
              </a:rPr>
              <a:t> Ordered Based On Hours</a:t>
            </a:r>
            <a:endParaRPr lang="en-US" b="1">
              <a:solidFill>
                <a:srgbClr val="38220F"/>
              </a:solidFill>
            </a:endParaRPr>
          </a:p>
        </c:rich>
      </c:tx>
      <c:layout>
        <c:manualLayout>
          <c:xMode val="edge"/>
          <c:yMode val="edge"/>
          <c:x val="0.24469444444444444"/>
          <c:y val="4.2601154213521474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w="28575" cap="rnd">
            <a:solidFill>
              <a:schemeClr val="accent2"/>
            </a:solidFill>
            <a:round/>
          </a:ln>
          <a:effectLst/>
        </c:spPr>
        <c:marker>
          <c:symbol val="circle"/>
          <c:size val="5"/>
          <c:spPr>
            <a:solidFill>
              <a:srgbClr val="63483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w="28575" cap="rnd">
            <a:solidFill>
              <a:schemeClr val="accent2"/>
            </a:solidFill>
            <a:round/>
          </a:ln>
          <a:effectLst/>
        </c:spPr>
        <c:marker>
          <c:symbol val="circle"/>
          <c:size val="5"/>
          <c:spPr>
            <a:solidFill>
              <a:srgbClr val="63483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w="28575" cap="rnd">
            <a:solidFill>
              <a:schemeClr val="accent2"/>
            </a:solidFill>
            <a:round/>
          </a:ln>
          <a:effectLst/>
        </c:spPr>
        <c:marker>
          <c:symbol val="circle"/>
          <c:size val="5"/>
          <c:spPr>
            <a:solidFill>
              <a:srgbClr val="63483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013648293963254"/>
          <c:y val="0.15319444444444447"/>
          <c:w val="0.80653018372703422"/>
          <c:h val="0.64919213080016369"/>
        </c:manualLayout>
      </c:layout>
      <c:lineChart>
        <c:grouping val="standard"/>
        <c:varyColors val="0"/>
        <c:ser>
          <c:idx val="0"/>
          <c:order val="0"/>
          <c:tx>
            <c:strRef>
              <c:f>pivot!$B$3</c:f>
              <c:strCache>
                <c:ptCount val="1"/>
                <c:pt idx="0">
                  <c:v>Total</c:v>
                </c:pt>
              </c:strCache>
            </c:strRef>
          </c:tx>
          <c:spPr>
            <a:ln w="28575" cap="rnd">
              <a:solidFill>
                <a:schemeClr val="accent2"/>
              </a:solidFill>
              <a:round/>
            </a:ln>
            <a:effectLst/>
          </c:spPr>
          <c:marker>
            <c:symbol val="circle"/>
            <c:size val="5"/>
            <c:spPr>
              <a:solidFill>
                <a:srgbClr val="634832"/>
              </a:solidFill>
              <a:ln w="9525">
                <a:solidFill>
                  <a:schemeClr val="accent2"/>
                </a:solidFill>
              </a:ln>
              <a:effectLst/>
            </c:spPr>
          </c:marker>
          <c:cat>
            <c:strRef>
              <c:f>pivot!$A$4:$A$19</c:f>
              <c:strCache>
                <c:ptCount val="15"/>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strCache>
            </c:strRef>
          </c:cat>
          <c:val>
            <c:numRef>
              <c:f>pivot!$B$4:$B$19</c:f>
              <c:numCache>
                <c:formatCode>General</c:formatCode>
                <c:ptCount val="15"/>
                <c:pt idx="0">
                  <c:v>6865</c:v>
                </c:pt>
                <c:pt idx="1">
                  <c:v>19449</c:v>
                </c:pt>
                <c:pt idx="2">
                  <c:v>25197</c:v>
                </c:pt>
                <c:pt idx="3">
                  <c:v>25370</c:v>
                </c:pt>
                <c:pt idx="4">
                  <c:v>26713</c:v>
                </c:pt>
                <c:pt idx="5">
                  <c:v>14035</c:v>
                </c:pt>
                <c:pt idx="6">
                  <c:v>12690</c:v>
                </c:pt>
                <c:pt idx="7">
                  <c:v>12439</c:v>
                </c:pt>
                <c:pt idx="8">
                  <c:v>12907</c:v>
                </c:pt>
                <c:pt idx="9">
                  <c:v>12923</c:v>
                </c:pt>
                <c:pt idx="10">
                  <c:v>12881</c:v>
                </c:pt>
                <c:pt idx="11">
                  <c:v>12700</c:v>
                </c:pt>
                <c:pt idx="12">
                  <c:v>10826</c:v>
                </c:pt>
                <c:pt idx="13">
                  <c:v>8595</c:v>
                </c:pt>
                <c:pt idx="14">
                  <c:v>880</c:v>
                </c:pt>
              </c:numCache>
            </c:numRef>
          </c:val>
          <c:smooth val="0"/>
          <c:extLst>
            <c:ext xmlns:c16="http://schemas.microsoft.com/office/drawing/2014/chart" uri="{C3380CC4-5D6E-409C-BE32-E72D297353CC}">
              <c16:uniqueId val="{00000000-F2EA-4607-A621-F6940DC28F41}"/>
            </c:ext>
          </c:extLst>
        </c:ser>
        <c:dLbls>
          <c:showLegendKey val="0"/>
          <c:showVal val="0"/>
          <c:showCatName val="0"/>
          <c:showSerName val="0"/>
          <c:showPercent val="0"/>
          <c:showBubbleSize val="0"/>
        </c:dLbls>
        <c:marker val="1"/>
        <c:smooth val="0"/>
        <c:axId val="1021565712"/>
        <c:axId val="1021552752"/>
      </c:lineChart>
      <c:catAx>
        <c:axId val="1021565712"/>
        <c:scaling>
          <c:orientation val="minMax"/>
        </c:scaling>
        <c:delete val="0"/>
        <c:axPos val="b"/>
        <c:title>
          <c:tx>
            <c:rich>
              <a:bodyPr rot="0" spcFirstLastPara="1" vertOverflow="ellipsis" vert="horz" wrap="square" anchor="ctr" anchorCtr="1"/>
              <a:lstStyle/>
              <a:p>
                <a:pPr>
                  <a:defRPr sz="1000" b="1" i="0" u="none" strike="noStrike" kern="1200" baseline="0">
                    <a:solidFill>
                      <a:srgbClr val="38220F"/>
                    </a:solidFill>
                    <a:latin typeface="+mn-lt"/>
                    <a:ea typeface="+mn-ea"/>
                    <a:cs typeface="+mn-cs"/>
                  </a:defRPr>
                </a:pPr>
                <a:r>
                  <a:rPr lang="en-IN" b="1">
                    <a:solidFill>
                      <a:srgbClr val="38220F"/>
                    </a:solidFill>
                  </a:rPr>
                  <a:t>time</a:t>
                </a:r>
              </a:p>
            </c:rich>
          </c:tx>
          <c:layout>
            <c:manualLayout>
              <c:xMode val="edge"/>
              <c:yMode val="edge"/>
              <c:x val="0.45977646544181977"/>
              <c:y val="0.89514034369557016"/>
            </c:manualLayout>
          </c:layout>
          <c:overlay val="0"/>
          <c:spPr>
            <a:noFill/>
            <a:ln>
              <a:noFill/>
            </a:ln>
            <a:effectLst/>
          </c:spPr>
          <c:txPr>
            <a:bodyPr rot="0" spcFirstLastPara="1" vertOverflow="ellipsis" vert="horz" wrap="square" anchor="ctr" anchorCtr="1"/>
            <a:lstStyle/>
            <a:p>
              <a:pPr>
                <a:defRPr sz="1000" b="1" i="0" u="none" strike="noStrike" kern="1200" baseline="0">
                  <a:solidFill>
                    <a:srgbClr val="38220F"/>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1552752"/>
        <c:crosses val="autoZero"/>
        <c:auto val="1"/>
        <c:lblAlgn val="ctr"/>
        <c:lblOffset val="100"/>
        <c:noMultiLvlLbl val="0"/>
      </c:catAx>
      <c:valAx>
        <c:axId val="1021552752"/>
        <c:scaling>
          <c:orientation val="minMax"/>
        </c:scaling>
        <c:delete val="0"/>
        <c:axPos val="l"/>
        <c:majorGridlines>
          <c:spPr>
            <a:ln w="9525" cap="flat" cmpd="sng" algn="ctr">
              <a:solidFill>
                <a:srgbClr val="38220F"/>
              </a:solidFill>
              <a:round/>
            </a:ln>
            <a:effectLst/>
          </c:spPr>
        </c:majorGridlines>
        <c:title>
          <c:tx>
            <c:rich>
              <a:bodyPr rot="-5400000" spcFirstLastPara="1" vertOverflow="ellipsis" vert="horz" wrap="square" anchor="ctr" anchorCtr="1"/>
              <a:lstStyle/>
              <a:p>
                <a:pPr>
                  <a:defRPr sz="1000" b="1" i="0" u="none" strike="noStrike" kern="1200" baseline="0">
                    <a:solidFill>
                      <a:srgbClr val="38220F"/>
                    </a:solidFill>
                    <a:latin typeface="+mn-lt"/>
                    <a:ea typeface="+mn-ea"/>
                    <a:cs typeface="+mn-cs"/>
                  </a:defRPr>
                </a:pPr>
                <a:r>
                  <a:rPr lang="en-IN" b="1">
                    <a:solidFill>
                      <a:srgbClr val="38220F"/>
                    </a:solidFill>
                  </a:rPr>
                  <a:t>Quantity</a:t>
                </a:r>
              </a:p>
            </c:rich>
          </c:tx>
          <c:overlay val="0"/>
          <c:spPr>
            <a:noFill/>
            <a:ln>
              <a:noFill/>
            </a:ln>
            <a:effectLst/>
          </c:spPr>
          <c:txPr>
            <a:bodyPr rot="-5400000" spcFirstLastPara="1" vertOverflow="ellipsis" vert="horz" wrap="square" anchor="ctr" anchorCtr="1"/>
            <a:lstStyle/>
            <a:p>
              <a:pPr>
                <a:defRPr sz="1000" b="1" i="0" u="none" strike="noStrike" kern="1200" baseline="0">
                  <a:solidFill>
                    <a:srgbClr val="38220F"/>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1565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DBC1AC"/>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final.xlsx]pivot!product wise</c:name>
    <c:fmtId val="3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rgbClr val="38220F"/>
                </a:solidFill>
              </a:rPr>
              <a:t>Categories</a:t>
            </a:r>
            <a:r>
              <a:rPr lang="en-US" b="1" baseline="0">
                <a:solidFill>
                  <a:srgbClr val="38220F"/>
                </a:solidFill>
              </a:rPr>
              <a:t> Distribution</a:t>
            </a:r>
            <a:endParaRPr lang="en-US" b="1">
              <a:solidFill>
                <a:srgbClr val="38220F"/>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solidFill>
              <a:srgbClr val="38220F"/>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a:solidFill>
              <a:srgbClr val="38220F"/>
            </a:solidFill>
          </a:ln>
          <a:effectLst/>
        </c:spPr>
      </c:pivotFmt>
      <c:pivotFmt>
        <c:idx val="4"/>
        <c:spPr>
          <a:solidFill>
            <a:schemeClr val="accent1"/>
          </a:solidFill>
          <a:ln>
            <a:solidFill>
              <a:srgbClr val="38220F"/>
            </a:solidFill>
          </a:ln>
          <a:effectLst/>
        </c:spPr>
      </c:pivotFmt>
      <c:pivotFmt>
        <c:idx val="5"/>
        <c:spPr>
          <a:solidFill>
            <a:schemeClr val="accent1"/>
          </a:solidFill>
          <a:ln>
            <a:solidFill>
              <a:srgbClr val="38220F"/>
            </a:solidFill>
          </a:ln>
          <a:effectLst/>
        </c:spPr>
      </c:pivotFmt>
      <c:pivotFmt>
        <c:idx val="6"/>
        <c:spPr>
          <a:solidFill>
            <a:schemeClr val="accent1"/>
          </a:solidFill>
          <a:ln>
            <a:solidFill>
              <a:srgbClr val="38220F"/>
            </a:solidFill>
          </a:ln>
          <a:effectLst/>
        </c:spPr>
      </c:pivotFmt>
      <c:pivotFmt>
        <c:idx val="7"/>
        <c:spPr>
          <a:solidFill>
            <a:schemeClr val="accent1"/>
          </a:solidFill>
          <a:ln>
            <a:solidFill>
              <a:srgbClr val="38220F"/>
            </a:solidFill>
          </a:ln>
          <a:effectLst/>
        </c:spPr>
      </c:pivotFmt>
      <c:pivotFmt>
        <c:idx val="8"/>
        <c:spPr>
          <a:solidFill>
            <a:schemeClr val="accent1"/>
          </a:solidFill>
          <a:ln>
            <a:solidFill>
              <a:srgbClr val="38220F"/>
            </a:solidFill>
          </a:ln>
          <a:effectLst/>
        </c:spPr>
      </c:pivotFmt>
      <c:pivotFmt>
        <c:idx val="9"/>
        <c:spPr>
          <a:solidFill>
            <a:schemeClr val="accent1"/>
          </a:solidFill>
          <a:ln>
            <a:solidFill>
              <a:srgbClr val="38220F"/>
            </a:solidFill>
          </a:ln>
          <a:effectLst/>
        </c:spPr>
      </c:pivotFmt>
      <c:pivotFmt>
        <c:idx val="10"/>
        <c:spPr>
          <a:solidFill>
            <a:schemeClr val="accent1"/>
          </a:solidFill>
          <a:ln>
            <a:solidFill>
              <a:srgbClr val="38220F"/>
            </a:solidFill>
          </a:ln>
          <a:effectLst/>
        </c:spPr>
      </c:pivotFmt>
      <c:pivotFmt>
        <c:idx val="11"/>
        <c:spPr>
          <a:solidFill>
            <a:schemeClr val="accent1"/>
          </a:solidFill>
          <a:ln>
            <a:solidFill>
              <a:srgbClr val="38220F"/>
            </a:solidFill>
          </a:ln>
          <a:effectLst/>
        </c:spPr>
      </c:pivotFmt>
      <c:pivotFmt>
        <c:idx val="12"/>
        <c:spPr>
          <a:solidFill>
            <a:schemeClr val="accent1"/>
          </a:solidFill>
          <a:ln>
            <a:solidFill>
              <a:srgbClr val="38220F"/>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1"/>
          </a:solidFill>
          <a:ln>
            <a:solidFill>
              <a:srgbClr val="38220F"/>
            </a:solidFill>
          </a:ln>
          <a:effectLst/>
        </c:spPr>
      </c:pivotFmt>
      <c:pivotFmt>
        <c:idx val="14"/>
        <c:spPr>
          <a:solidFill>
            <a:schemeClr val="accent1"/>
          </a:solidFill>
          <a:ln>
            <a:solidFill>
              <a:srgbClr val="38220F"/>
            </a:solidFill>
          </a:ln>
          <a:effectLst/>
        </c:spPr>
      </c:pivotFmt>
      <c:pivotFmt>
        <c:idx val="15"/>
        <c:spPr>
          <a:solidFill>
            <a:schemeClr val="accent1"/>
          </a:solidFill>
          <a:ln>
            <a:solidFill>
              <a:srgbClr val="38220F"/>
            </a:solidFill>
          </a:ln>
          <a:effectLst/>
        </c:spPr>
      </c:pivotFmt>
      <c:pivotFmt>
        <c:idx val="16"/>
        <c:spPr>
          <a:solidFill>
            <a:schemeClr val="accent1"/>
          </a:solidFill>
          <a:ln>
            <a:solidFill>
              <a:srgbClr val="38220F"/>
            </a:solidFill>
          </a:ln>
          <a:effectLst/>
        </c:spPr>
      </c:pivotFmt>
      <c:pivotFmt>
        <c:idx val="17"/>
        <c:spPr>
          <a:solidFill>
            <a:schemeClr val="accent1"/>
          </a:solidFill>
          <a:ln>
            <a:solidFill>
              <a:srgbClr val="38220F"/>
            </a:solidFill>
          </a:ln>
          <a:effectLst/>
        </c:spPr>
      </c:pivotFmt>
      <c:pivotFmt>
        <c:idx val="18"/>
        <c:spPr>
          <a:solidFill>
            <a:schemeClr val="accent1"/>
          </a:solidFill>
          <a:ln>
            <a:solidFill>
              <a:srgbClr val="38220F"/>
            </a:solidFill>
          </a:ln>
          <a:effectLst/>
        </c:spPr>
      </c:pivotFmt>
      <c:pivotFmt>
        <c:idx val="19"/>
        <c:spPr>
          <a:solidFill>
            <a:schemeClr val="accent1"/>
          </a:solidFill>
          <a:ln>
            <a:solidFill>
              <a:srgbClr val="38220F"/>
            </a:solidFill>
          </a:ln>
          <a:effectLst/>
        </c:spPr>
      </c:pivotFmt>
      <c:pivotFmt>
        <c:idx val="20"/>
        <c:spPr>
          <a:solidFill>
            <a:schemeClr val="accent1"/>
          </a:solidFill>
          <a:ln>
            <a:solidFill>
              <a:srgbClr val="38220F"/>
            </a:solidFill>
          </a:ln>
          <a:effectLst/>
        </c:spPr>
      </c:pivotFmt>
      <c:pivotFmt>
        <c:idx val="21"/>
        <c:spPr>
          <a:solidFill>
            <a:schemeClr val="accent1"/>
          </a:solidFill>
          <a:ln>
            <a:solidFill>
              <a:srgbClr val="38220F"/>
            </a:solidFill>
          </a:ln>
          <a:effectLst/>
        </c:spPr>
      </c:pivotFmt>
      <c:pivotFmt>
        <c:idx val="22"/>
        <c:spPr>
          <a:solidFill>
            <a:schemeClr val="accent1"/>
          </a:solidFill>
          <a:ln>
            <a:solidFill>
              <a:srgbClr val="38220F"/>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3"/>
        <c:spPr>
          <a:solidFill>
            <a:schemeClr val="accent1"/>
          </a:solidFill>
          <a:ln>
            <a:solidFill>
              <a:srgbClr val="38220F"/>
            </a:solidFill>
          </a:ln>
          <a:effectLst/>
        </c:spPr>
      </c:pivotFmt>
      <c:pivotFmt>
        <c:idx val="24"/>
        <c:spPr>
          <a:solidFill>
            <a:schemeClr val="accent1"/>
          </a:solidFill>
          <a:ln>
            <a:solidFill>
              <a:srgbClr val="38220F"/>
            </a:solidFill>
          </a:ln>
          <a:effectLst/>
        </c:spPr>
      </c:pivotFmt>
      <c:pivotFmt>
        <c:idx val="25"/>
        <c:spPr>
          <a:solidFill>
            <a:schemeClr val="accent1"/>
          </a:solidFill>
          <a:ln>
            <a:solidFill>
              <a:srgbClr val="38220F"/>
            </a:solidFill>
          </a:ln>
          <a:effectLst/>
        </c:spPr>
      </c:pivotFmt>
      <c:pivotFmt>
        <c:idx val="26"/>
        <c:spPr>
          <a:solidFill>
            <a:schemeClr val="accent1"/>
          </a:solidFill>
          <a:ln>
            <a:solidFill>
              <a:srgbClr val="38220F"/>
            </a:solidFill>
          </a:ln>
          <a:effectLst/>
        </c:spPr>
      </c:pivotFmt>
      <c:pivotFmt>
        <c:idx val="27"/>
        <c:spPr>
          <a:solidFill>
            <a:schemeClr val="accent1"/>
          </a:solidFill>
          <a:ln>
            <a:solidFill>
              <a:srgbClr val="38220F"/>
            </a:solidFill>
          </a:ln>
          <a:effectLst/>
        </c:spPr>
      </c:pivotFmt>
      <c:pivotFmt>
        <c:idx val="28"/>
        <c:spPr>
          <a:solidFill>
            <a:schemeClr val="accent1"/>
          </a:solidFill>
          <a:ln>
            <a:solidFill>
              <a:srgbClr val="38220F"/>
            </a:solidFill>
          </a:ln>
          <a:effectLst/>
        </c:spPr>
      </c:pivotFmt>
      <c:pivotFmt>
        <c:idx val="29"/>
        <c:spPr>
          <a:solidFill>
            <a:schemeClr val="accent1"/>
          </a:solidFill>
          <a:ln>
            <a:solidFill>
              <a:srgbClr val="38220F"/>
            </a:solidFill>
          </a:ln>
          <a:effectLst/>
        </c:spPr>
      </c:pivotFmt>
      <c:pivotFmt>
        <c:idx val="30"/>
        <c:spPr>
          <a:solidFill>
            <a:schemeClr val="accent1"/>
          </a:solidFill>
          <a:ln>
            <a:solidFill>
              <a:srgbClr val="38220F"/>
            </a:solidFill>
          </a:ln>
          <a:effectLst/>
        </c:spPr>
      </c:pivotFmt>
      <c:pivotFmt>
        <c:idx val="31"/>
        <c:spPr>
          <a:solidFill>
            <a:schemeClr val="accent1"/>
          </a:solidFill>
          <a:ln>
            <a:solidFill>
              <a:srgbClr val="38220F"/>
            </a:solidFill>
          </a:ln>
          <a:effectLst/>
        </c:spPr>
      </c:pivotFmt>
      <c:pivotFmt>
        <c:idx val="32"/>
        <c:spPr>
          <a:solidFill>
            <a:schemeClr val="accent1"/>
          </a:solidFill>
          <a:ln>
            <a:solidFill>
              <a:srgbClr val="38220F"/>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3"/>
        <c:spPr>
          <a:solidFill>
            <a:schemeClr val="accent1"/>
          </a:solidFill>
          <a:ln>
            <a:solidFill>
              <a:srgbClr val="38220F"/>
            </a:solidFill>
          </a:ln>
          <a:effectLst/>
        </c:spPr>
      </c:pivotFmt>
      <c:pivotFmt>
        <c:idx val="34"/>
        <c:spPr>
          <a:solidFill>
            <a:schemeClr val="accent1"/>
          </a:solidFill>
          <a:ln>
            <a:solidFill>
              <a:srgbClr val="38220F"/>
            </a:solidFill>
          </a:ln>
          <a:effectLst/>
        </c:spPr>
      </c:pivotFmt>
      <c:pivotFmt>
        <c:idx val="35"/>
        <c:spPr>
          <a:solidFill>
            <a:schemeClr val="accent1"/>
          </a:solidFill>
          <a:ln>
            <a:solidFill>
              <a:srgbClr val="38220F"/>
            </a:solidFill>
          </a:ln>
          <a:effectLst/>
        </c:spPr>
      </c:pivotFmt>
      <c:pivotFmt>
        <c:idx val="36"/>
        <c:spPr>
          <a:solidFill>
            <a:schemeClr val="accent1"/>
          </a:solidFill>
          <a:ln>
            <a:solidFill>
              <a:srgbClr val="38220F"/>
            </a:solidFill>
          </a:ln>
          <a:effectLst/>
        </c:spPr>
      </c:pivotFmt>
      <c:pivotFmt>
        <c:idx val="37"/>
        <c:spPr>
          <a:solidFill>
            <a:schemeClr val="accent1"/>
          </a:solidFill>
          <a:ln>
            <a:solidFill>
              <a:srgbClr val="38220F"/>
            </a:solidFill>
          </a:ln>
          <a:effectLst/>
        </c:spPr>
      </c:pivotFmt>
      <c:pivotFmt>
        <c:idx val="38"/>
        <c:spPr>
          <a:solidFill>
            <a:schemeClr val="accent1"/>
          </a:solidFill>
          <a:ln>
            <a:solidFill>
              <a:srgbClr val="38220F"/>
            </a:solidFill>
          </a:ln>
          <a:effectLst/>
        </c:spPr>
      </c:pivotFmt>
      <c:pivotFmt>
        <c:idx val="39"/>
        <c:spPr>
          <a:solidFill>
            <a:schemeClr val="accent1"/>
          </a:solidFill>
          <a:ln>
            <a:solidFill>
              <a:srgbClr val="38220F"/>
            </a:solidFill>
          </a:ln>
          <a:effectLst/>
        </c:spPr>
      </c:pivotFmt>
      <c:pivotFmt>
        <c:idx val="40"/>
        <c:spPr>
          <a:solidFill>
            <a:schemeClr val="accent1"/>
          </a:solidFill>
          <a:ln>
            <a:solidFill>
              <a:srgbClr val="38220F"/>
            </a:solidFill>
          </a:ln>
          <a:effectLst/>
        </c:spPr>
      </c:pivotFmt>
      <c:pivotFmt>
        <c:idx val="41"/>
        <c:spPr>
          <a:solidFill>
            <a:schemeClr val="accent1"/>
          </a:solidFill>
          <a:ln>
            <a:solidFill>
              <a:srgbClr val="38220F"/>
            </a:solidFill>
          </a:ln>
          <a:effectLst/>
        </c:spPr>
      </c:pivotFmt>
    </c:pivotFmts>
    <c:plotArea>
      <c:layout/>
      <c:pieChart>
        <c:varyColors val="1"/>
        <c:ser>
          <c:idx val="0"/>
          <c:order val="0"/>
          <c:tx>
            <c:strRef>
              <c:f>pivot!$L$16</c:f>
              <c:strCache>
                <c:ptCount val="1"/>
                <c:pt idx="0">
                  <c:v>Total</c:v>
                </c:pt>
              </c:strCache>
            </c:strRef>
          </c:tx>
          <c:spPr>
            <a:ln>
              <a:solidFill>
                <a:srgbClr val="38220F"/>
              </a:solidFill>
            </a:ln>
          </c:spPr>
          <c:dPt>
            <c:idx val="0"/>
            <c:bubble3D val="0"/>
            <c:spPr>
              <a:solidFill>
                <a:schemeClr val="accent1"/>
              </a:solidFill>
              <a:ln>
                <a:solidFill>
                  <a:srgbClr val="38220F"/>
                </a:solidFill>
              </a:ln>
              <a:effectLst/>
            </c:spPr>
            <c:extLst>
              <c:ext xmlns:c16="http://schemas.microsoft.com/office/drawing/2014/chart" uri="{C3380CC4-5D6E-409C-BE32-E72D297353CC}">
                <c16:uniqueId val="{00000001-008D-4487-B1C0-C79D393B7350}"/>
              </c:ext>
            </c:extLst>
          </c:dPt>
          <c:dPt>
            <c:idx val="1"/>
            <c:bubble3D val="0"/>
            <c:spPr>
              <a:solidFill>
                <a:schemeClr val="accent2"/>
              </a:solidFill>
              <a:ln>
                <a:solidFill>
                  <a:srgbClr val="38220F"/>
                </a:solidFill>
              </a:ln>
              <a:effectLst/>
            </c:spPr>
            <c:extLst>
              <c:ext xmlns:c16="http://schemas.microsoft.com/office/drawing/2014/chart" uri="{C3380CC4-5D6E-409C-BE32-E72D297353CC}">
                <c16:uniqueId val="{00000003-008D-4487-B1C0-C79D393B7350}"/>
              </c:ext>
            </c:extLst>
          </c:dPt>
          <c:dPt>
            <c:idx val="2"/>
            <c:bubble3D val="0"/>
            <c:explosion val="6"/>
            <c:spPr>
              <a:solidFill>
                <a:schemeClr val="accent3"/>
              </a:solidFill>
              <a:ln>
                <a:solidFill>
                  <a:srgbClr val="38220F"/>
                </a:solidFill>
              </a:ln>
              <a:effectLst/>
            </c:spPr>
            <c:extLst>
              <c:ext xmlns:c16="http://schemas.microsoft.com/office/drawing/2014/chart" uri="{C3380CC4-5D6E-409C-BE32-E72D297353CC}">
                <c16:uniqueId val="{00000005-008D-4487-B1C0-C79D393B7350}"/>
              </c:ext>
            </c:extLst>
          </c:dPt>
          <c:dPt>
            <c:idx val="3"/>
            <c:bubble3D val="0"/>
            <c:spPr>
              <a:solidFill>
                <a:schemeClr val="accent4"/>
              </a:solidFill>
              <a:ln>
                <a:solidFill>
                  <a:srgbClr val="38220F"/>
                </a:solidFill>
              </a:ln>
              <a:effectLst/>
            </c:spPr>
            <c:extLst>
              <c:ext xmlns:c16="http://schemas.microsoft.com/office/drawing/2014/chart" uri="{C3380CC4-5D6E-409C-BE32-E72D297353CC}">
                <c16:uniqueId val="{00000007-008D-4487-B1C0-C79D393B7350}"/>
              </c:ext>
            </c:extLst>
          </c:dPt>
          <c:dPt>
            <c:idx val="4"/>
            <c:bubble3D val="0"/>
            <c:spPr>
              <a:solidFill>
                <a:schemeClr val="accent5"/>
              </a:solidFill>
              <a:ln>
                <a:solidFill>
                  <a:srgbClr val="38220F"/>
                </a:solidFill>
              </a:ln>
              <a:effectLst/>
            </c:spPr>
            <c:extLst>
              <c:ext xmlns:c16="http://schemas.microsoft.com/office/drawing/2014/chart" uri="{C3380CC4-5D6E-409C-BE32-E72D297353CC}">
                <c16:uniqueId val="{00000009-008D-4487-B1C0-C79D393B7350}"/>
              </c:ext>
            </c:extLst>
          </c:dPt>
          <c:dPt>
            <c:idx val="5"/>
            <c:bubble3D val="0"/>
            <c:spPr>
              <a:solidFill>
                <a:schemeClr val="accent6"/>
              </a:solidFill>
              <a:ln>
                <a:solidFill>
                  <a:srgbClr val="38220F"/>
                </a:solidFill>
              </a:ln>
              <a:effectLst/>
            </c:spPr>
            <c:extLst>
              <c:ext xmlns:c16="http://schemas.microsoft.com/office/drawing/2014/chart" uri="{C3380CC4-5D6E-409C-BE32-E72D297353CC}">
                <c16:uniqueId val="{0000000B-008D-4487-B1C0-C79D393B7350}"/>
              </c:ext>
            </c:extLst>
          </c:dPt>
          <c:dPt>
            <c:idx val="6"/>
            <c:bubble3D val="0"/>
            <c:spPr>
              <a:solidFill>
                <a:schemeClr val="accent1">
                  <a:lumMod val="60000"/>
                </a:schemeClr>
              </a:solidFill>
              <a:ln>
                <a:solidFill>
                  <a:srgbClr val="38220F"/>
                </a:solidFill>
              </a:ln>
              <a:effectLst/>
            </c:spPr>
            <c:extLst>
              <c:ext xmlns:c16="http://schemas.microsoft.com/office/drawing/2014/chart" uri="{C3380CC4-5D6E-409C-BE32-E72D297353CC}">
                <c16:uniqueId val="{0000000D-008D-4487-B1C0-C79D393B7350}"/>
              </c:ext>
            </c:extLst>
          </c:dPt>
          <c:dPt>
            <c:idx val="7"/>
            <c:bubble3D val="0"/>
            <c:spPr>
              <a:solidFill>
                <a:schemeClr val="accent2">
                  <a:lumMod val="60000"/>
                </a:schemeClr>
              </a:solidFill>
              <a:ln>
                <a:solidFill>
                  <a:srgbClr val="38220F"/>
                </a:solidFill>
              </a:ln>
              <a:effectLst/>
            </c:spPr>
            <c:extLst>
              <c:ext xmlns:c16="http://schemas.microsoft.com/office/drawing/2014/chart" uri="{C3380CC4-5D6E-409C-BE32-E72D297353CC}">
                <c16:uniqueId val="{0000000F-008D-4487-B1C0-C79D393B7350}"/>
              </c:ext>
            </c:extLst>
          </c:dPt>
          <c:dPt>
            <c:idx val="8"/>
            <c:bubble3D val="0"/>
            <c:explosion val="11"/>
            <c:spPr>
              <a:solidFill>
                <a:schemeClr val="accent3">
                  <a:lumMod val="60000"/>
                </a:schemeClr>
              </a:solidFill>
              <a:ln>
                <a:solidFill>
                  <a:srgbClr val="38220F"/>
                </a:solidFill>
              </a:ln>
              <a:effectLst/>
            </c:spPr>
            <c:extLst>
              <c:ext xmlns:c16="http://schemas.microsoft.com/office/drawing/2014/chart" uri="{C3380CC4-5D6E-409C-BE32-E72D297353CC}">
                <c16:uniqueId val="{00000011-008D-4487-B1C0-C79D393B7350}"/>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pivot!$K$17:$K$26</c:f>
              <c:strCache>
                <c:ptCount val="9"/>
                <c:pt idx="0">
                  <c:v>Bakery</c:v>
                </c:pt>
                <c:pt idx="1">
                  <c:v>Branded</c:v>
                </c:pt>
                <c:pt idx="2">
                  <c:v>Coffee</c:v>
                </c:pt>
                <c:pt idx="3">
                  <c:v>Coffee beans</c:v>
                </c:pt>
                <c:pt idx="4">
                  <c:v>Drinking Chocolate</c:v>
                </c:pt>
                <c:pt idx="5">
                  <c:v>Flavours</c:v>
                </c:pt>
                <c:pt idx="6">
                  <c:v>Loose Tea</c:v>
                </c:pt>
                <c:pt idx="7">
                  <c:v>Packaged Chocolate</c:v>
                </c:pt>
                <c:pt idx="8">
                  <c:v>Tea</c:v>
                </c:pt>
              </c:strCache>
            </c:strRef>
          </c:cat>
          <c:val>
            <c:numRef>
              <c:f>pivot!$L$17:$L$26</c:f>
              <c:numCache>
                <c:formatCode>\$#,##0.00;\(\$#,##0.00\);\$#,##0.00</c:formatCode>
                <c:ptCount val="9"/>
                <c:pt idx="0">
                  <c:v>82315.639999999912</c:v>
                </c:pt>
                <c:pt idx="1">
                  <c:v>13607</c:v>
                </c:pt>
                <c:pt idx="2">
                  <c:v>269952.45</c:v>
                </c:pt>
                <c:pt idx="3">
                  <c:v>40085.25</c:v>
                </c:pt>
                <c:pt idx="4">
                  <c:v>72416</c:v>
                </c:pt>
                <c:pt idx="5">
                  <c:v>8408.800000000012</c:v>
                </c:pt>
                <c:pt idx="6">
                  <c:v>11213.6</c:v>
                </c:pt>
                <c:pt idx="7">
                  <c:v>4407.6399999999994</c:v>
                </c:pt>
                <c:pt idx="8">
                  <c:v>196405.95</c:v>
                </c:pt>
              </c:numCache>
            </c:numRef>
          </c:val>
          <c:extLst>
            <c:ext xmlns:c16="http://schemas.microsoft.com/office/drawing/2014/chart" uri="{C3380CC4-5D6E-409C-BE32-E72D297353CC}">
              <c16:uniqueId val="{00000012-008D-4487-B1C0-C79D393B7350}"/>
            </c:ext>
          </c:extLst>
        </c:ser>
        <c:dLbls>
          <c:dLblPos val="bestFit"/>
          <c:showLegendKey val="0"/>
          <c:showVal val="1"/>
          <c:showCatName val="0"/>
          <c:showSerName val="0"/>
          <c:showPercent val="0"/>
          <c:showBubbleSize val="0"/>
          <c:showLeaderLines val="1"/>
        </c:dLbls>
        <c:firstSliceAng val="1"/>
      </c:pieChart>
      <c:spPr>
        <a:noFill/>
        <a:ln>
          <a:noFill/>
        </a:ln>
        <a:effectLst/>
      </c:spPr>
    </c:plotArea>
    <c:legend>
      <c:legendPos val="r"/>
      <c:layout>
        <c:manualLayout>
          <c:xMode val="edge"/>
          <c:yMode val="edge"/>
          <c:x val="0.72110491086399553"/>
          <c:y val="0.14485228218423918"/>
          <c:w val="0.25334142644435204"/>
          <c:h val="0.7717279623583637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DBC1AC"/>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final.xlsx]pivot!PivotTable4</c:name>
    <c:fmtId val="45"/>
  </c:pivotSource>
  <c:chart>
    <c:title>
      <c:tx>
        <c:rich>
          <a:bodyPr/>
          <a:lstStyle/>
          <a:p>
            <a:pPr>
              <a:defRPr b="0"/>
            </a:pPr>
            <a:r>
              <a:rPr lang="en-IN" sz="1400" b="1"/>
              <a:t>%</a:t>
            </a:r>
            <a:r>
              <a:rPr lang="en-IN" sz="1400" b="1" baseline="0"/>
              <a:t> size distributation Based on Orders</a:t>
            </a:r>
            <a:endParaRPr lang="en-IN" sz="1400" b="1"/>
          </a:p>
        </c:rich>
      </c:tx>
      <c:layout>
        <c:manualLayout>
          <c:xMode val="edge"/>
          <c:yMode val="edge"/>
          <c:x val="0.17199563017585764"/>
          <c:y val="5.4080629301868237E-2"/>
        </c:manualLayout>
      </c:layout>
      <c:overlay val="0"/>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a:solidFill>
              <a:srgbClr val="38220F"/>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a:solidFill>
              <a:srgbClr val="38220F"/>
            </a:solidFill>
          </a:ln>
          <a:effectLst/>
        </c:spPr>
      </c:pivotFmt>
      <c:pivotFmt>
        <c:idx val="4"/>
        <c:spPr>
          <a:solidFill>
            <a:schemeClr val="accent1"/>
          </a:solidFill>
          <a:ln>
            <a:solidFill>
              <a:srgbClr val="38220F"/>
            </a:solidFill>
          </a:ln>
          <a:effectLst/>
        </c:spPr>
      </c:pivotFmt>
      <c:pivotFmt>
        <c:idx val="5"/>
        <c:spPr>
          <a:solidFill>
            <a:schemeClr val="accent1"/>
          </a:solidFill>
          <a:ln>
            <a:solidFill>
              <a:srgbClr val="38220F"/>
            </a:solidFill>
          </a:ln>
          <a:effectLst/>
        </c:spPr>
      </c:pivotFmt>
      <c:pivotFmt>
        <c:idx val="6"/>
        <c:spPr>
          <a:solidFill>
            <a:schemeClr val="accent1"/>
          </a:solidFill>
          <a:ln>
            <a:solidFill>
              <a:srgbClr val="38220F"/>
            </a:solidFill>
          </a:ln>
          <a:effectLst/>
        </c:spPr>
      </c:pivotFmt>
      <c:pivotFmt>
        <c:idx val="7"/>
        <c:spPr>
          <a:solidFill>
            <a:schemeClr val="accent1"/>
          </a:solidFill>
          <a:ln>
            <a:solidFill>
              <a:srgbClr val="38220F"/>
            </a:solidFill>
          </a:ln>
          <a:effectLst/>
        </c:spPr>
      </c:pivotFmt>
      <c:pivotFmt>
        <c:idx val="8"/>
        <c:spPr>
          <a:solidFill>
            <a:schemeClr val="accent1"/>
          </a:solidFill>
          <a:ln>
            <a:solidFill>
              <a:srgbClr val="38220F"/>
            </a:solidFill>
          </a:ln>
          <a:effectLst/>
        </c:spPr>
      </c:pivotFmt>
      <c:pivotFmt>
        <c:idx val="9"/>
        <c:spPr>
          <a:solidFill>
            <a:schemeClr val="accent1"/>
          </a:solidFill>
          <a:ln>
            <a:solidFill>
              <a:srgbClr val="38220F"/>
            </a:solidFill>
          </a:ln>
          <a:effectLst/>
        </c:spPr>
      </c:pivotFmt>
      <c:pivotFmt>
        <c:idx val="10"/>
        <c:spPr>
          <a:solidFill>
            <a:schemeClr val="accent1"/>
          </a:solidFill>
          <a:ln>
            <a:solidFill>
              <a:srgbClr val="38220F"/>
            </a:solidFill>
          </a:ln>
          <a:effectLst/>
        </c:spPr>
      </c:pivotFmt>
      <c:pivotFmt>
        <c:idx val="11"/>
        <c:spPr>
          <a:solidFill>
            <a:schemeClr val="accent1"/>
          </a:solidFill>
          <a:ln>
            <a:solidFill>
              <a:srgbClr val="38220F"/>
            </a:solidFill>
          </a:ln>
          <a:effectLst/>
        </c:spPr>
      </c:pivotFmt>
      <c:pivotFmt>
        <c:idx val="12"/>
        <c:spPr>
          <a:solidFill>
            <a:schemeClr val="accent1"/>
          </a:solidFill>
          <a:ln>
            <a:solidFill>
              <a:srgbClr val="38220F"/>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accent1"/>
          </a:solidFill>
          <a:ln>
            <a:solidFill>
              <a:srgbClr val="38220F"/>
            </a:solidFill>
          </a:ln>
          <a:effectLst/>
        </c:spPr>
      </c:pivotFmt>
      <c:pivotFmt>
        <c:idx val="14"/>
        <c:spPr>
          <a:solidFill>
            <a:schemeClr val="accent1"/>
          </a:solidFill>
          <a:ln>
            <a:solidFill>
              <a:srgbClr val="38220F"/>
            </a:solidFill>
          </a:ln>
          <a:effectLst/>
        </c:spPr>
      </c:pivotFmt>
      <c:pivotFmt>
        <c:idx val="15"/>
        <c:spPr>
          <a:solidFill>
            <a:schemeClr val="accent1"/>
          </a:solidFill>
          <a:ln>
            <a:solidFill>
              <a:srgbClr val="38220F"/>
            </a:solidFill>
          </a:ln>
          <a:effectLst/>
        </c:spPr>
      </c:pivotFmt>
      <c:pivotFmt>
        <c:idx val="16"/>
        <c:spPr>
          <a:solidFill>
            <a:schemeClr val="accent1"/>
          </a:solidFill>
          <a:ln>
            <a:solidFill>
              <a:srgbClr val="38220F"/>
            </a:solidFill>
          </a:ln>
          <a:effectLst/>
        </c:spPr>
      </c:pivotFmt>
      <c:pivotFmt>
        <c:idx val="17"/>
        <c:spPr>
          <a:solidFill>
            <a:schemeClr val="accent1"/>
          </a:solidFill>
          <a:ln>
            <a:solidFill>
              <a:srgbClr val="38220F"/>
            </a:solidFill>
          </a:ln>
          <a:effectLst/>
        </c:spPr>
      </c:pivotFmt>
      <c:pivotFmt>
        <c:idx val="18"/>
        <c:spPr>
          <a:solidFill>
            <a:schemeClr val="accent1"/>
          </a:solidFill>
          <a:ln>
            <a:solidFill>
              <a:srgbClr val="38220F"/>
            </a:solidFill>
          </a:ln>
          <a:effectLst/>
        </c:spPr>
      </c:pivotFmt>
      <c:pivotFmt>
        <c:idx val="19"/>
        <c:spPr>
          <a:solidFill>
            <a:schemeClr val="accent1"/>
          </a:solidFill>
          <a:ln>
            <a:solidFill>
              <a:srgbClr val="38220F"/>
            </a:solidFill>
          </a:ln>
          <a:effectLst/>
        </c:spPr>
      </c:pivotFmt>
      <c:pivotFmt>
        <c:idx val="20"/>
        <c:spPr>
          <a:solidFill>
            <a:schemeClr val="accent1"/>
          </a:solidFill>
          <a:ln>
            <a:solidFill>
              <a:srgbClr val="38220F"/>
            </a:solidFill>
          </a:ln>
          <a:effectLst/>
        </c:spPr>
      </c:pivotFmt>
      <c:pivotFmt>
        <c:idx val="21"/>
        <c:spPr>
          <a:solidFill>
            <a:schemeClr val="accent1"/>
          </a:solidFill>
          <a:ln>
            <a:solidFill>
              <a:srgbClr val="38220F"/>
            </a:solidFill>
          </a:ln>
          <a:effectLst/>
        </c:spPr>
      </c:pivotFmt>
      <c:pivotFmt>
        <c:idx val="22"/>
        <c:spPr>
          <a:solidFill>
            <a:schemeClr val="accent1"/>
          </a:solidFill>
          <a:ln>
            <a:solidFill>
              <a:srgbClr val="38220F"/>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3"/>
        <c:spPr>
          <a:solidFill>
            <a:schemeClr val="accent1"/>
          </a:solidFill>
          <a:ln>
            <a:solidFill>
              <a:srgbClr val="38220F"/>
            </a:solidFill>
          </a:ln>
          <a:effectLst/>
        </c:spPr>
      </c:pivotFmt>
      <c:pivotFmt>
        <c:idx val="24"/>
        <c:spPr>
          <a:solidFill>
            <a:schemeClr val="accent1"/>
          </a:solidFill>
          <a:ln>
            <a:solidFill>
              <a:srgbClr val="38220F"/>
            </a:solidFill>
          </a:ln>
          <a:effectLst/>
        </c:spPr>
      </c:pivotFmt>
      <c:pivotFmt>
        <c:idx val="25"/>
        <c:spPr>
          <a:solidFill>
            <a:schemeClr val="accent1"/>
          </a:solidFill>
          <a:ln>
            <a:solidFill>
              <a:srgbClr val="38220F"/>
            </a:solidFill>
          </a:ln>
          <a:effectLst/>
        </c:spPr>
      </c:pivotFmt>
      <c:pivotFmt>
        <c:idx val="26"/>
        <c:spPr>
          <a:solidFill>
            <a:schemeClr val="accent1"/>
          </a:solidFill>
          <a:ln>
            <a:solidFill>
              <a:srgbClr val="38220F"/>
            </a:solidFill>
          </a:ln>
          <a:effectLst/>
        </c:spPr>
      </c:pivotFmt>
      <c:pivotFmt>
        <c:idx val="27"/>
        <c:spPr>
          <a:solidFill>
            <a:schemeClr val="accent1"/>
          </a:solidFill>
          <a:ln>
            <a:solidFill>
              <a:srgbClr val="38220F"/>
            </a:solidFill>
          </a:ln>
          <a:effectLst/>
        </c:spPr>
      </c:pivotFmt>
      <c:pivotFmt>
        <c:idx val="28"/>
        <c:spPr>
          <a:solidFill>
            <a:schemeClr val="accent1"/>
          </a:solidFill>
          <a:ln>
            <a:solidFill>
              <a:srgbClr val="38220F"/>
            </a:solidFill>
          </a:ln>
          <a:effectLst/>
        </c:spPr>
      </c:pivotFmt>
      <c:pivotFmt>
        <c:idx val="29"/>
        <c:spPr>
          <a:solidFill>
            <a:schemeClr val="accent1"/>
          </a:solidFill>
          <a:ln>
            <a:solidFill>
              <a:srgbClr val="38220F"/>
            </a:solidFill>
          </a:ln>
          <a:effectLst/>
        </c:spPr>
      </c:pivotFmt>
      <c:pivotFmt>
        <c:idx val="30"/>
        <c:spPr>
          <a:solidFill>
            <a:schemeClr val="accent1"/>
          </a:solidFill>
          <a:ln>
            <a:solidFill>
              <a:srgbClr val="38220F"/>
            </a:solidFill>
          </a:ln>
          <a:effectLst/>
        </c:spPr>
      </c:pivotFmt>
      <c:pivotFmt>
        <c:idx val="31"/>
        <c:spPr>
          <a:solidFill>
            <a:schemeClr val="accent1"/>
          </a:solidFill>
          <a:ln>
            <a:solidFill>
              <a:srgbClr val="38220F"/>
            </a:solidFill>
          </a:ln>
          <a:effectLst/>
        </c:spPr>
      </c:pivotFmt>
      <c:pivotFmt>
        <c:idx val="32"/>
        <c:spPr>
          <a:ln>
            <a:solidFill>
              <a:srgbClr val="38220F"/>
            </a:solidFill>
          </a:ln>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3"/>
        <c:spPr>
          <a:solidFill>
            <a:schemeClr val="accent1"/>
          </a:solidFill>
          <a:ln>
            <a:solidFill>
              <a:srgbClr val="38220F"/>
            </a:solidFill>
          </a:ln>
          <a:effectLst/>
        </c:spPr>
      </c:pivotFmt>
      <c:pivotFmt>
        <c:idx val="34"/>
        <c:spPr>
          <a:solidFill>
            <a:schemeClr val="accent2"/>
          </a:solidFill>
          <a:ln>
            <a:solidFill>
              <a:srgbClr val="38220F"/>
            </a:solidFill>
          </a:ln>
          <a:effectLst/>
        </c:spPr>
      </c:pivotFmt>
      <c:pivotFmt>
        <c:idx val="35"/>
        <c:spPr>
          <a:solidFill>
            <a:schemeClr val="accent3"/>
          </a:solidFill>
          <a:ln>
            <a:solidFill>
              <a:srgbClr val="38220F"/>
            </a:solidFill>
          </a:ln>
          <a:effectLst/>
        </c:spPr>
      </c:pivotFmt>
      <c:pivotFmt>
        <c:idx val="36"/>
        <c:spPr>
          <a:solidFill>
            <a:schemeClr val="accent4"/>
          </a:solidFill>
          <a:ln>
            <a:solidFill>
              <a:srgbClr val="38220F"/>
            </a:solidFill>
          </a:ln>
          <a:effectLst/>
        </c:spPr>
      </c:pivotFmt>
      <c:pivotFmt>
        <c:idx val="37"/>
        <c:spPr>
          <a:ln>
            <a:solidFill>
              <a:srgbClr val="38220F"/>
            </a:solidFill>
          </a:ln>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8"/>
        <c:spPr>
          <a:solidFill>
            <a:schemeClr val="accent1"/>
          </a:solidFill>
          <a:ln>
            <a:solidFill>
              <a:srgbClr val="38220F"/>
            </a:solidFill>
          </a:ln>
          <a:effectLst/>
        </c:spPr>
      </c:pivotFmt>
      <c:pivotFmt>
        <c:idx val="39"/>
        <c:spPr>
          <a:solidFill>
            <a:schemeClr val="accent2"/>
          </a:solidFill>
          <a:ln>
            <a:solidFill>
              <a:srgbClr val="38220F"/>
            </a:solidFill>
          </a:ln>
          <a:effectLst/>
        </c:spPr>
      </c:pivotFmt>
      <c:pivotFmt>
        <c:idx val="40"/>
        <c:spPr>
          <a:solidFill>
            <a:schemeClr val="accent3"/>
          </a:solidFill>
          <a:ln>
            <a:solidFill>
              <a:srgbClr val="38220F"/>
            </a:solidFill>
          </a:ln>
          <a:effectLst/>
        </c:spPr>
      </c:pivotFmt>
      <c:pivotFmt>
        <c:idx val="41"/>
        <c:spPr>
          <a:solidFill>
            <a:schemeClr val="accent4"/>
          </a:solidFill>
          <a:ln>
            <a:solidFill>
              <a:srgbClr val="38220F"/>
            </a:solidFill>
          </a:ln>
          <a:effectLst/>
        </c:spPr>
      </c:pivotFmt>
      <c:pivotFmt>
        <c:idx val="42"/>
        <c:spPr>
          <a:ln>
            <a:solidFill>
              <a:srgbClr val="38220F"/>
            </a:solidFill>
          </a:ln>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43"/>
        <c:spPr>
          <a:solidFill>
            <a:schemeClr val="accent1"/>
          </a:solidFill>
          <a:ln>
            <a:solidFill>
              <a:srgbClr val="38220F"/>
            </a:solidFill>
          </a:ln>
          <a:effectLst/>
        </c:spPr>
      </c:pivotFmt>
      <c:pivotFmt>
        <c:idx val="44"/>
        <c:spPr>
          <a:solidFill>
            <a:schemeClr val="accent2"/>
          </a:solidFill>
          <a:ln>
            <a:solidFill>
              <a:srgbClr val="38220F"/>
            </a:solidFill>
          </a:ln>
          <a:effectLst/>
        </c:spPr>
      </c:pivotFmt>
      <c:pivotFmt>
        <c:idx val="45"/>
        <c:spPr>
          <a:solidFill>
            <a:schemeClr val="accent3"/>
          </a:solidFill>
          <a:ln>
            <a:solidFill>
              <a:srgbClr val="38220F"/>
            </a:solidFill>
          </a:ln>
          <a:effectLst/>
        </c:spPr>
      </c:pivotFmt>
      <c:pivotFmt>
        <c:idx val="46"/>
        <c:spPr>
          <a:solidFill>
            <a:schemeClr val="accent4"/>
          </a:solidFill>
          <a:ln>
            <a:solidFill>
              <a:srgbClr val="38220F"/>
            </a:solidFill>
          </a:ln>
          <a:effectLst/>
        </c:spPr>
      </c:pivotFmt>
    </c:pivotFmts>
    <c:plotArea>
      <c:layout/>
      <c:pieChart>
        <c:varyColors val="1"/>
        <c:ser>
          <c:idx val="0"/>
          <c:order val="0"/>
          <c:tx>
            <c:strRef>
              <c:f>pivot!$K$2</c:f>
              <c:strCache>
                <c:ptCount val="1"/>
                <c:pt idx="0">
                  <c:v>Total</c:v>
                </c:pt>
              </c:strCache>
            </c:strRef>
          </c:tx>
          <c:spPr>
            <a:ln>
              <a:solidFill>
                <a:srgbClr val="38220F"/>
              </a:solidFill>
            </a:ln>
          </c:spPr>
          <c:dPt>
            <c:idx val="0"/>
            <c:bubble3D val="0"/>
            <c:spPr>
              <a:solidFill>
                <a:schemeClr val="accent1"/>
              </a:solidFill>
              <a:ln>
                <a:solidFill>
                  <a:srgbClr val="38220F"/>
                </a:solidFill>
              </a:ln>
              <a:effectLst/>
            </c:spPr>
            <c:extLst>
              <c:ext xmlns:c16="http://schemas.microsoft.com/office/drawing/2014/chart" uri="{C3380CC4-5D6E-409C-BE32-E72D297353CC}">
                <c16:uniqueId val="{00000001-2A59-4443-9440-C9C8367E3166}"/>
              </c:ext>
            </c:extLst>
          </c:dPt>
          <c:dPt>
            <c:idx val="1"/>
            <c:bubble3D val="0"/>
            <c:spPr>
              <a:solidFill>
                <a:schemeClr val="accent2"/>
              </a:solidFill>
              <a:ln>
                <a:solidFill>
                  <a:srgbClr val="38220F"/>
                </a:solidFill>
              </a:ln>
              <a:effectLst/>
            </c:spPr>
            <c:extLst>
              <c:ext xmlns:c16="http://schemas.microsoft.com/office/drawing/2014/chart" uri="{C3380CC4-5D6E-409C-BE32-E72D297353CC}">
                <c16:uniqueId val="{00000003-2A59-4443-9440-C9C8367E3166}"/>
              </c:ext>
            </c:extLst>
          </c:dPt>
          <c:dPt>
            <c:idx val="2"/>
            <c:bubble3D val="0"/>
            <c:explosion val="6"/>
            <c:spPr>
              <a:solidFill>
                <a:schemeClr val="accent3"/>
              </a:solidFill>
              <a:ln>
                <a:solidFill>
                  <a:srgbClr val="38220F"/>
                </a:solidFill>
              </a:ln>
              <a:effectLst/>
            </c:spPr>
            <c:extLst>
              <c:ext xmlns:c16="http://schemas.microsoft.com/office/drawing/2014/chart" uri="{C3380CC4-5D6E-409C-BE32-E72D297353CC}">
                <c16:uniqueId val="{00000005-2A59-4443-9440-C9C8367E3166}"/>
              </c:ext>
            </c:extLst>
          </c:dPt>
          <c:dPt>
            <c:idx val="3"/>
            <c:bubble3D val="0"/>
            <c:spPr>
              <a:solidFill>
                <a:schemeClr val="accent4"/>
              </a:solidFill>
              <a:ln>
                <a:solidFill>
                  <a:srgbClr val="38220F"/>
                </a:solidFill>
              </a:ln>
              <a:effectLst/>
            </c:spPr>
            <c:extLst>
              <c:ext xmlns:c16="http://schemas.microsoft.com/office/drawing/2014/chart" uri="{C3380CC4-5D6E-409C-BE32-E72D297353CC}">
                <c16:uniqueId val="{00000007-2A59-4443-9440-C9C8367E3166}"/>
              </c:ext>
            </c:extLst>
          </c:dPt>
          <c:dPt>
            <c:idx val="4"/>
            <c:bubble3D val="0"/>
            <c:extLst>
              <c:ext xmlns:c16="http://schemas.microsoft.com/office/drawing/2014/chart" uri="{C3380CC4-5D6E-409C-BE32-E72D297353CC}">
                <c16:uniqueId val="{00000008-2A59-4443-9440-C9C8367E3166}"/>
              </c:ext>
            </c:extLst>
          </c:dPt>
          <c:dPt>
            <c:idx val="5"/>
            <c:bubble3D val="0"/>
            <c:extLst>
              <c:ext xmlns:c16="http://schemas.microsoft.com/office/drawing/2014/chart" uri="{C3380CC4-5D6E-409C-BE32-E72D297353CC}">
                <c16:uniqueId val="{00000009-2A59-4443-9440-C9C8367E3166}"/>
              </c:ext>
            </c:extLst>
          </c:dPt>
          <c:dPt>
            <c:idx val="6"/>
            <c:bubble3D val="0"/>
            <c:extLst>
              <c:ext xmlns:c16="http://schemas.microsoft.com/office/drawing/2014/chart" uri="{C3380CC4-5D6E-409C-BE32-E72D297353CC}">
                <c16:uniqueId val="{0000000A-2A59-4443-9440-C9C8367E3166}"/>
              </c:ext>
            </c:extLst>
          </c:dPt>
          <c:dPt>
            <c:idx val="7"/>
            <c:bubble3D val="0"/>
            <c:extLst>
              <c:ext xmlns:c16="http://schemas.microsoft.com/office/drawing/2014/chart" uri="{C3380CC4-5D6E-409C-BE32-E72D297353CC}">
                <c16:uniqueId val="{0000000B-2A59-4443-9440-C9C8367E3166}"/>
              </c:ext>
            </c:extLst>
          </c:dPt>
          <c:dPt>
            <c:idx val="8"/>
            <c:bubble3D val="0"/>
            <c:explosion val="11"/>
            <c:extLst>
              <c:ext xmlns:c16="http://schemas.microsoft.com/office/drawing/2014/chart" uri="{C3380CC4-5D6E-409C-BE32-E72D297353CC}">
                <c16:uniqueId val="{0000000D-2A59-4443-9440-C9C8367E3166}"/>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pivot!$J$3:$J$7</c:f>
              <c:strCache>
                <c:ptCount val="4"/>
                <c:pt idx="0">
                  <c:v>Large</c:v>
                </c:pt>
                <c:pt idx="1">
                  <c:v>Not Define</c:v>
                </c:pt>
                <c:pt idx="2">
                  <c:v>Regular</c:v>
                </c:pt>
                <c:pt idx="3">
                  <c:v>Small</c:v>
                </c:pt>
              </c:strCache>
            </c:strRef>
          </c:cat>
          <c:val>
            <c:numRef>
              <c:f>pivot!$K$3:$K$7</c:f>
              <c:numCache>
                <c:formatCode>General</c:formatCode>
                <c:ptCount val="4"/>
                <c:pt idx="0">
                  <c:v>44885</c:v>
                </c:pt>
                <c:pt idx="1">
                  <c:v>44518</c:v>
                </c:pt>
                <c:pt idx="2">
                  <c:v>45789</c:v>
                </c:pt>
                <c:pt idx="3">
                  <c:v>13924</c:v>
                </c:pt>
              </c:numCache>
            </c:numRef>
          </c:val>
          <c:extLst>
            <c:ext xmlns:c16="http://schemas.microsoft.com/office/drawing/2014/chart" uri="{C3380CC4-5D6E-409C-BE32-E72D297353CC}">
              <c16:uniqueId val="{0000000E-2A59-4443-9440-C9C8367E3166}"/>
            </c:ext>
          </c:extLst>
        </c:ser>
        <c:dLbls>
          <c:dLblPos val="bestFit"/>
          <c:showLegendKey val="0"/>
          <c:showVal val="1"/>
          <c:showCatName val="0"/>
          <c:showSerName val="0"/>
          <c:showPercent val="0"/>
          <c:showBubbleSize val="0"/>
          <c:showLeaderLines val="1"/>
        </c:dLbls>
        <c:firstSliceAng val="1"/>
      </c:pieChart>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solidFill>
      <a:srgbClr val="DBC1AC"/>
    </a:solidFill>
    <a:ln w="9525" cap="flat" cmpd="sng" algn="ctr">
      <a:no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final.xlsx]pivot!footfall stall</c:name>
    <c:fmtId val="2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rgbClr val="38220F"/>
                </a:solidFill>
              </a:rPr>
              <a:t>Footfall</a:t>
            </a:r>
            <a:r>
              <a:rPr lang="en-US" b="1" baseline="0">
                <a:solidFill>
                  <a:srgbClr val="38220F"/>
                </a:solidFill>
              </a:rPr>
              <a:t> Over Various Store Locations</a:t>
            </a:r>
            <a:endParaRPr lang="en-US" b="1">
              <a:solidFill>
                <a:srgbClr val="38220F"/>
              </a:solidFill>
            </a:endParaRPr>
          </a:p>
        </c:rich>
      </c:tx>
      <c:layout>
        <c:manualLayout>
          <c:xMode val="edge"/>
          <c:yMode val="edge"/>
          <c:x val="0.24057633420822402"/>
          <c:y val="2.7777777777777776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967259"/>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967259"/>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967259"/>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626159230096238"/>
          <c:y val="0.13930555555555557"/>
          <c:w val="0.80596062992125983"/>
          <c:h val="0.62271617089530473"/>
        </c:manualLayout>
      </c:layout>
      <c:barChart>
        <c:barDir val="col"/>
        <c:grouping val="clustered"/>
        <c:varyColors val="0"/>
        <c:ser>
          <c:idx val="0"/>
          <c:order val="0"/>
          <c:tx>
            <c:strRef>
              <c:f>pivot!$K$32</c:f>
              <c:strCache>
                <c:ptCount val="1"/>
                <c:pt idx="0">
                  <c:v>Count of transaction_id</c:v>
                </c:pt>
              </c:strCache>
            </c:strRef>
          </c:tx>
          <c:spPr>
            <a:solidFill>
              <a:srgbClr val="63483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pivot!$J$33:$J$36</c:f>
              <c:strCache>
                <c:ptCount val="3"/>
                <c:pt idx="0">
                  <c:v>Astoria</c:v>
                </c:pt>
                <c:pt idx="1">
                  <c:v>Hell's Kitchen</c:v>
                </c:pt>
                <c:pt idx="2">
                  <c:v>Lower Manhattan</c:v>
                </c:pt>
              </c:strCache>
            </c:strRef>
          </c:cat>
          <c:val>
            <c:numRef>
              <c:f>pivot!$K$33:$K$36</c:f>
              <c:numCache>
                <c:formatCode>General</c:formatCode>
                <c:ptCount val="3"/>
                <c:pt idx="0">
                  <c:v>50599</c:v>
                </c:pt>
                <c:pt idx="1">
                  <c:v>50735</c:v>
                </c:pt>
                <c:pt idx="2">
                  <c:v>47782</c:v>
                </c:pt>
              </c:numCache>
            </c:numRef>
          </c:val>
          <c:extLst>
            <c:ext xmlns:c16="http://schemas.microsoft.com/office/drawing/2014/chart" uri="{C3380CC4-5D6E-409C-BE32-E72D297353CC}">
              <c16:uniqueId val="{00000000-3D48-492A-A3CD-0449E4006E6E}"/>
            </c:ext>
          </c:extLst>
        </c:ser>
        <c:ser>
          <c:idx val="1"/>
          <c:order val="1"/>
          <c:tx>
            <c:strRef>
              <c:f>pivot!$L$32</c:f>
              <c:strCache>
                <c:ptCount val="1"/>
                <c:pt idx="0">
                  <c:v>Sum of Total bill</c:v>
                </c:pt>
              </c:strCache>
            </c:strRef>
          </c:tx>
          <c:spPr>
            <a:solidFill>
              <a:srgbClr val="96725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pivot!$J$33:$J$36</c:f>
              <c:strCache>
                <c:ptCount val="3"/>
                <c:pt idx="0">
                  <c:v>Astoria</c:v>
                </c:pt>
                <c:pt idx="1">
                  <c:v>Hell's Kitchen</c:v>
                </c:pt>
                <c:pt idx="2">
                  <c:v>Lower Manhattan</c:v>
                </c:pt>
              </c:strCache>
            </c:strRef>
          </c:cat>
          <c:val>
            <c:numRef>
              <c:f>pivot!$L$33:$L$36</c:f>
              <c:numCache>
                <c:formatCode>\$#,##0.00;\(\$#,##0.00\);\$#,##0.00</c:formatCode>
                <c:ptCount val="3"/>
                <c:pt idx="0">
                  <c:v>232243.91</c:v>
                </c:pt>
                <c:pt idx="1">
                  <c:v>236511.17</c:v>
                </c:pt>
                <c:pt idx="2">
                  <c:v>230057.2500000002</c:v>
                </c:pt>
              </c:numCache>
            </c:numRef>
          </c:val>
          <c:extLst>
            <c:ext xmlns:c16="http://schemas.microsoft.com/office/drawing/2014/chart" uri="{C3380CC4-5D6E-409C-BE32-E72D297353CC}">
              <c16:uniqueId val="{00000001-3D48-492A-A3CD-0449E4006E6E}"/>
            </c:ext>
          </c:extLst>
        </c:ser>
        <c:dLbls>
          <c:dLblPos val="outEnd"/>
          <c:showLegendKey val="0"/>
          <c:showVal val="1"/>
          <c:showCatName val="0"/>
          <c:showSerName val="0"/>
          <c:showPercent val="0"/>
          <c:showBubbleSize val="0"/>
        </c:dLbls>
        <c:gapWidth val="219"/>
        <c:overlap val="-27"/>
        <c:axId val="839744496"/>
        <c:axId val="839749296"/>
      </c:barChart>
      <c:catAx>
        <c:axId val="839744496"/>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solidFill>
                      <a:srgbClr val="38220F"/>
                    </a:solidFill>
                  </a:rPr>
                  <a:t>Store</a:t>
                </a:r>
                <a:r>
                  <a:rPr lang="en-IN" b="1" baseline="0">
                    <a:solidFill>
                      <a:srgbClr val="38220F"/>
                    </a:solidFill>
                  </a:rPr>
                  <a:t> locations</a:t>
                </a:r>
                <a:endParaRPr lang="en-IN" b="1">
                  <a:solidFill>
                    <a:srgbClr val="38220F"/>
                  </a:solidFill>
                </a:endParaRP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839749296"/>
        <c:crosses val="autoZero"/>
        <c:auto val="1"/>
        <c:lblAlgn val="ctr"/>
        <c:lblOffset val="100"/>
        <c:noMultiLvlLbl val="0"/>
      </c:catAx>
      <c:valAx>
        <c:axId val="839749296"/>
        <c:scaling>
          <c:orientation val="minMax"/>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b="1">
                    <a:solidFill>
                      <a:srgbClr val="38220F"/>
                    </a:solidFill>
                  </a:rPr>
                  <a:t>Foot</a:t>
                </a:r>
                <a:r>
                  <a:rPr lang="en-IN" b="1" baseline="0">
                    <a:solidFill>
                      <a:srgbClr val="38220F"/>
                    </a:solidFill>
                  </a:rPr>
                  <a:t>fall</a:t>
                </a:r>
                <a:endParaRPr lang="en-IN" b="1">
                  <a:solidFill>
                    <a:srgbClr val="38220F"/>
                  </a:solidFill>
                </a:endParaRPr>
              </a:p>
            </c:rich>
          </c:tx>
          <c:layout>
            <c:manualLayout>
              <c:xMode val="edge"/>
              <c:yMode val="edge"/>
              <c:x val="1.9444444444444445E-2"/>
              <c:y val="0.4100386410032079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97444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DBC1AC"/>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final.xlsx]pivot!top 5 sales</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rgbClr val="38220F"/>
                </a:solidFill>
              </a:rPr>
              <a:t>Top</a:t>
            </a:r>
            <a:r>
              <a:rPr lang="en-US" b="1" baseline="0">
                <a:solidFill>
                  <a:srgbClr val="38220F"/>
                </a:solidFill>
              </a:rPr>
              <a:t> 5 Products Based On Sales</a:t>
            </a:r>
            <a:endParaRPr lang="en-US" b="1">
              <a:solidFill>
                <a:srgbClr val="38220F"/>
              </a:solidFill>
            </a:endParaRPr>
          </a:p>
        </c:rich>
      </c:tx>
      <c:layout>
        <c:manualLayout>
          <c:xMode val="edge"/>
          <c:yMode val="edge"/>
          <c:x val="0.25439566929133856"/>
          <c:y val="4.62962962962962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2580022259659538"/>
          <c:y val="0.19583543380012544"/>
          <c:w val="0.73833844065958798"/>
          <c:h val="0.66838111162564406"/>
        </c:manualLayout>
      </c:layout>
      <c:barChart>
        <c:barDir val="col"/>
        <c:grouping val="clustered"/>
        <c:varyColors val="0"/>
        <c:ser>
          <c:idx val="0"/>
          <c:order val="0"/>
          <c:tx>
            <c:strRef>
              <c:f>pivot!$H$29</c:f>
              <c:strCache>
                <c:ptCount val="1"/>
                <c:pt idx="0">
                  <c:v>Total</c:v>
                </c:pt>
              </c:strCache>
            </c:strRef>
          </c:tx>
          <c:spPr>
            <a:solidFill>
              <a:srgbClr val="63483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pivot!$G$30:$G$35</c:f>
              <c:strCache>
                <c:ptCount val="5"/>
                <c:pt idx="0">
                  <c:v>Barista Espresso</c:v>
                </c:pt>
                <c:pt idx="1">
                  <c:v>Brewed Black tea</c:v>
                </c:pt>
                <c:pt idx="2">
                  <c:v>Brewed Chai tea</c:v>
                </c:pt>
                <c:pt idx="3">
                  <c:v>Gourmet brewed coffee</c:v>
                </c:pt>
                <c:pt idx="4">
                  <c:v>Hot chocolate</c:v>
                </c:pt>
              </c:strCache>
            </c:strRef>
          </c:cat>
          <c:val>
            <c:numRef>
              <c:f>pivot!$H$30:$H$35</c:f>
              <c:numCache>
                <c:formatCode>\$#,##0.00;\(\$#,##0.00\);\$#,##0.00</c:formatCode>
                <c:ptCount val="5"/>
                <c:pt idx="0">
                  <c:v>91406.2</c:v>
                </c:pt>
                <c:pt idx="1">
                  <c:v>47932</c:v>
                </c:pt>
                <c:pt idx="2">
                  <c:v>77081.950000000012</c:v>
                </c:pt>
                <c:pt idx="3">
                  <c:v>70034.600000000006</c:v>
                </c:pt>
                <c:pt idx="4">
                  <c:v>72416</c:v>
                </c:pt>
              </c:numCache>
            </c:numRef>
          </c:val>
          <c:extLst>
            <c:ext xmlns:c16="http://schemas.microsoft.com/office/drawing/2014/chart" uri="{C3380CC4-5D6E-409C-BE32-E72D297353CC}">
              <c16:uniqueId val="{00000000-1686-42E6-A8E0-08052EEB4BE1}"/>
            </c:ext>
          </c:extLst>
        </c:ser>
        <c:dLbls>
          <c:dLblPos val="outEnd"/>
          <c:showLegendKey val="0"/>
          <c:showVal val="1"/>
          <c:showCatName val="0"/>
          <c:showSerName val="0"/>
          <c:showPercent val="0"/>
          <c:showBubbleSize val="0"/>
        </c:dLbls>
        <c:gapWidth val="219"/>
        <c:overlap val="-27"/>
        <c:axId val="831639488"/>
        <c:axId val="831623648"/>
      </c:barChart>
      <c:catAx>
        <c:axId val="831639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23648"/>
        <c:crosses val="autoZero"/>
        <c:auto val="1"/>
        <c:lblAlgn val="ctr"/>
        <c:lblOffset val="100"/>
        <c:noMultiLvlLbl val="0"/>
      </c:catAx>
      <c:valAx>
        <c:axId val="831623648"/>
        <c:scaling>
          <c:orientation val="minMax"/>
        </c:scaling>
        <c:delete val="0"/>
        <c:axPos val="l"/>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0.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394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DBC1AC"/>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final.xlsx]pivot!PivotTable6</c:name>
    <c:fmtId val="11"/>
  </c:pivotSource>
  <c:chart>
    <c:title>
      <c:tx>
        <c:rich>
          <a:bodyPr rot="0" spcFirstLastPara="1" vertOverflow="ellipsis" vert="horz" wrap="square" anchor="ctr" anchorCtr="1"/>
          <a:lstStyle/>
          <a:p>
            <a:pPr>
              <a:defRPr sz="1400" b="0" i="0" u="none" strike="noStrike" kern="1200" spc="0" baseline="0">
                <a:solidFill>
                  <a:srgbClr val="38220F"/>
                </a:solidFill>
                <a:latin typeface="+mn-lt"/>
                <a:ea typeface="+mn-ea"/>
                <a:cs typeface="+mn-cs"/>
              </a:defRPr>
            </a:pPr>
            <a:r>
              <a:rPr lang="en-IN" b="1">
                <a:solidFill>
                  <a:srgbClr val="38220F"/>
                </a:solidFill>
              </a:rPr>
              <a:t>Order</a:t>
            </a:r>
            <a:r>
              <a:rPr lang="en-IN" b="1" baseline="0">
                <a:solidFill>
                  <a:srgbClr val="38220F"/>
                </a:solidFill>
              </a:rPr>
              <a:t> of Weekdays</a:t>
            </a:r>
            <a:endParaRPr lang="en-IN" b="1">
              <a:solidFill>
                <a:srgbClr val="38220F"/>
              </a:solidFill>
            </a:endParaRPr>
          </a:p>
        </c:rich>
      </c:tx>
      <c:overlay val="0"/>
      <c:spPr>
        <a:solidFill>
          <a:srgbClr val="DBC1AC"/>
        </a:solid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070603674540682"/>
          <c:y val="0.16708333333333336"/>
          <c:w val="0.80596062992125983"/>
          <c:h val="0.59481991834354042"/>
        </c:manualLayout>
      </c:layout>
      <c:barChart>
        <c:barDir val="col"/>
        <c:grouping val="clustered"/>
        <c:varyColors val="0"/>
        <c:ser>
          <c:idx val="0"/>
          <c:order val="0"/>
          <c:tx>
            <c:strRef>
              <c:f>pivot!$I$42</c:f>
              <c:strCache>
                <c:ptCount val="1"/>
                <c:pt idx="0">
                  <c:v>Total</c:v>
                </c:pt>
              </c:strCache>
            </c:strRef>
          </c:tx>
          <c:spPr>
            <a:solidFill>
              <a:srgbClr val="63483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pivot!$H$43:$H$50</c:f>
              <c:strCache>
                <c:ptCount val="7"/>
                <c:pt idx="0">
                  <c:v>Sunday</c:v>
                </c:pt>
                <c:pt idx="1">
                  <c:v>Monday</c:v>
                </c:pt>
                <c:pt idx="2">
                  <c:v>Tuesday</c:v>
                </c:pt>
                <c:pt idx="3">
                  <c:v>Wednesday</c:v>
                </c:pt>
                <c:pt idx="4">
                  <c:v>Thursday</c:v>
                </c:pt>
                <c:pt idx="5">
                  <c:v>Friday</c:v>
                </c:pt>
                <c:pt idx="6">
                  <c:v>Saturday</c:v>
                </c:pt>
              </c:strCache>
            </c:strRef>
          </c:cat>
          <c:val>
            <c:numRef>
              <c:f>pivot!$I$43:$I$50</c:f>
              <c:numCache>
                <c:formatCode>General</c:formatCode>
                <c:ptCount val="7"/>
                <c:pt idx="0">
                  <c:v>21096</c:v>
                </c:pt>
                <c:pt idx="1">
                  <c:v>21643</c:v>
                </c:pt>
                <c:pt idx="2">
                  <c:v>21202</c:v>
                </c:pt>
                <c:pt idx="3">
                  <c:v>21310</c:v>
                </c:pt>
                <c:pt idx="4">
                  <c:v>21654</c:v>
                </c:pt>
                <c:pt idx="5">
                  <c:v>21701</c:v>
                </c:pt>
                <c:pt idx="6">
                  <c:v>20510</c:v>
                </c:pt>
              </c:numCache>
            </c:numRef>
          </c:val>
          <c:extLst>
            <c:ext xmlns:c16="http://schemas.microsoft.com/office/drawing/2014/chart" uri="{C3380CC4-5D6E-409C-BE32-E72D297353CC}">
              <c16:uniqueId val="{00000000-4283-45CB-9C35-5C60D437219E}"/>
            </c:ext>
          </c:extLst>
        </c:ser>
        <c:dLbls>
          <c:dLblPos val="outEnd"/>
          <c:showLegendKey val="0"/>
          <c:showVal val="1"/>
          <c:showCatName val="0"/>
          <c:showSerName val="0"/>
          <c:showPercent val="0"/>
          <c:showBubbleSize val="0"/>
        </c:dLbls>
        <c:gapWidth val="219"/>
        <c:overlap val="-27"/>
        <c:axId val="831639488"/>
        <c:axId val="831623648"/>
      </c:barChart>
      <c:catAx>
        <c:axId val="831639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23648"/>
        <c:crosses val="autoZero"/>
        <c:auto val="1"/>
        <c:lblAlgn val="ctr"/>
        <c:lblOffset val="100"/>
        <c:noMultiLvlLbl val="0"/>
      </c:catAx>
      <c:valAx>
        <c:axId val="831623648"/>
        <c:scaling>
          <c:orientation val="minMax"/>
        </c:scaling>
        <c:delete val="0"/>
        <c:axPos val="l"/>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39488"/>
        <c:crosses val="autoZero"/>
        <c:crossBetween val="between"/>
      </c:valAx>
      <c:spPr>
        <a:solidFill>
          <a:srgbClr val="DBC1AC"/>
        </a:solidFill>
      </c:spPr>
    </c:plotArea>
    <c:plotVisOnly val="1"/>
    <c:dispBlanksAs val="gap"/>
    <c:showDLblsOverMax val="0"/>
    <c:extLst/>
  </c:chart>
  <c:spPr>
    <a:solidFill>
      <a:srgbClr val="DBC1AC"/>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final.xlsx]pivot!PivotTable6</c:name>
    <c:fmtId val="14"/>
  </c:pivotSource>
  <c:chart>
    <c:title>
      <c:tx>
        <c:rich>
          <a:bodyPr rot="0" spcFirstLastPara="1" vertOverflow="ellipsis" vert="horz" wrap="square" anchor="ctr" anchorCtr="1"/>
          <a:lstStyle/>
          <a:p>
            <a:pPr>
              <a:defRPr sz="1400" b="0" i="0" u="none" strike="noStrike" kern="1200" spc="0" baseline="0">
                <a:solidFill>
                  <a:srgbClr val="38220F"/>
                </a:solidFill>
                <a:latin typeface="+mn-lt"/>
                <a:ea typeface="+mn-ea"/>
                <a:cs typeface="+mn-cs"/>
              </a:defRPr>
            </a:pPr>
            <a:r>
              <a:rPr lang="en-IN" b="1">
                <a:solidFill>
                  <a:srgbClr val="38220F"/>
                </a:solidFill>
              </a:rPr>
              <a:t>Order</a:t>
            </a:r>
            <a:r>
              <a:rPr lang="en-IN" b="1" baseline="0">
                <a:solidFill>
                  <a:srgbClr val="38220F"/>
                </a:solidFill>
              </a:rPr>
              <a:t> of Weekdays</a:t>
            </a:r>
            <a:endParaRPr lang="en-IN" b="1">
              <a:solidFill>
                <a:srgbClr val="38220F"/>
              </a:solidFill>
            </a:endParaRPr>
          </a:p>
        </c:rich>
      </c:tx>
      <c:overlay val="0"/>
      <c:spPr>
        <a:solidFill>
          <a:srgbClr val="DBC1AC"/>
        </a:solidFill>
        <a:ln>
          <a:noFill/>
        </a:ln>
        <a:effectLst/>
      </c:spPr>
    </c:title>
    <c:autoTitleDeleted val="0"/>
    <c:pivotFmts>
      <c:pivotFmt>
        <c:idx val="0"/>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c:ext xmlns:c15="http://schemas.microsoft.com/office/drawing/2012/chart" uri="{CE6537A1-D6FC-4f65-9D91-7224C49458BB}"/>
          </c:extLst>
        </c:dLbl>
      </c:pivotFmt>
      <c:pivotFmt>
        <c:idx val="2"/>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070605678487296"/>
          <c:y val="0.17178867403314918"/>
          <c:w val="0.80596062992125983"/>
          <c:h val="0.59481991834354042"/>
        </c:manualLayout>
      </c:layout>
      <c:barChart>
        <c:barDir val="col"/>
        <c:grouping val="clustered"/>
        <c:varyColors val="0"/>
        <c:ser>
          <c:idx val="0"/>
          <c:order val="0"/>
          <c:tx>
            <c:strRef>
              <c:f>pivot!$I$42</c:f>
              <c:strCache>
                <c:ptCount val="1"/>
                <c:pt idx="0">
                  <c:v>Total</c:v>
                </c:pt>
              </c:strCache>
            </c:strRef>
          </c:tx>
          <c:spPr>
            <a:solidFill>
              <a:srgbClr val="63483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pivot!$H$43:$H$50</c:f>
              <c:strCache>
                <c:ptCount val="7"/>
                <c:pt idx="0">
                  <c:v>Sunday</c:v>
                </c:pt>
                <c:pt idx="1">
                  <c:v>Monday</c:v>
                </c:pt>
                <c:pt idx="2">
                  <c:v>Tuesday</c:v>
                </c:pt>
                <c:pt idx="3">
                  <c:v>Wednesday</c:v>
                </c:pt>
                <c:pt idx="4">
                  <c:v>Thursday</c:v>
                </c:pt>
                <c:pt idx="5">
                  <c:v>Friday</c:v>
                </c:pt>
                <c:pt idx="6">
                  <c:v>Saturday</c:v>
                </c:pt>
              </c:strCache>
            </c:strRef>
          </c:cat>
          <c:val>
            <c:numRef>
              <c:f>pivot!$I$43:$I$50</c:f>
              <c:numCache>
                <c:formatCode>General</c:formatCode>
                <c:ptCount val="7"/>
                <c:pt idx="0">
                  <c:v>21096</c:v>
                </c:pt>
                <c:pt idx="1">
                  <c:v>21643</c:v>
                </c:pt>
                <c:pt idx="2">
                  <c:v>21202</c:v>
                </c:pt>
                <c:pt idx="3">
                  <c:v>21310</c:v>
                </c:pt>
                <c:pt idx="4">
                  <c:v>21654</c:v>
                </c:pt>
                <c:pt idx="5">
                  <c:v>21701</c:v>
                </c:pt>
                <c:pt idx="6">
                  <c:v>20510</c:v>
                </c:pt>
              </c:numCache>
            </c:numRef>
          </c:val>
          <c:extLst>
            <c:ext xmlns:c16="http://schemas.microsoft.com/office/drawing/2014/chart" uri="{C3380CC4-5D6E-409C-BE32-E72D297353CC}">
              <c16:uniqueId val="{00000000-145F-450B-BDD0-E26342C33659}"/>
            </c:ext>
          </c:extLst>
        </c:ser>
        <c:dLbls>
          <c:dLblPos val="outEnd"/>
          <c:showLegendKey val="0"/>
          <c:showVal val="1"/>
          <c:showCatName val="0"/>
          <c:showSerName val="0"/>
          <c:showPercent val="0"/>
          <c:showBubbleSize val="0"/>
        </c:dLbls>
        <c:gapWidth val="219"/>
        <c:overlap val="-27"/>
        <c:axId val="831639488"/>
        <c:axId val="831623648"/>
      </c:barChart>
      <c:catAx>
        <c:axId val="831639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23648"/>
        <c:crosses val="autoZero"/>
        <c:auto val="1"/>
        <c:lblAlgn val="ctr"/>
        <c:lblOffset val="100"/>
        <c:noMultiLvlLbl val="0"/>
      </c:catAx>
      <c:valAx>
        <c:axId val="831623648"/>
        <c:scaling>
          <c:orientation val="minMax"/>
        </c:scaling>
        <c:delete val="0"/>
        <c:axPos val="l"/>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39488"/>
        <c:crosses val="autoZero"/>
        <c:crossBetween val="between"/>
      </c:valAx>
      <c:spPr>
        <a:solidFill>
          <a:srgbClr val="DBC1AC"/>
        </a:solidFill>
      </c:spPr>
    </c:plotArea>
    <c:plotVisOnly val="1"/>
    <c:dispBlanksAs val="gap"/>
    <c:showDLblsOverMax val="0"/>
    <c:extLst/>
  </c:chart>
  <c:spPr>
    <a:solidFill>
      <a:srgbClr val="DBC1AC"/>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final.xlsx]pivot!top 5 sales</c:name>
    <c:fmtId val="3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rgbClr val="38220F"/>
                </a:solidFill>
              </a:rPr>
              <a:t>Top</a:t>
            </a:r>
            <a:r>
              <a:rPr lang="en-US" b="1" baseline="0">
                <a:solidFill>
                  <a:srgbClr val="38220F"/>
                </a:solidFill>
              </a:rPr>
              <a:t> 5 Products Based On Sales</a:t>
            </a:r>
            <a:endParaRPr lang="en-US" b="1">
              <a:solidFill>
                <a:srgbClr val="38220F"/>
              </a:solidFill>
            </a:endParaRPr>
          </a:p>
        </c:rich>
      </c:tx>
      <c:layout>
        <c:manualLayout>
          <c:xMode val="edge"/>
          <c:yMode val="edge"/>
          <c:x val="0.25439566929133856"/>
          <c:y val="4.629629629629629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63483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2580022259659538"/>
          <c:y val="0.19583543380012544"/>
          <c:w val="0.73833844065958798"/>
          <c:h val="0.66838111162564406"/>
        </c:manualLayout>
      </c:layout>
      <c:barChart>
        <c:barDir val="col"/>
        <c:grouping val="clustered"/>
        <c:varyColors val="0"/>
        <c:ser>
          <c:idx val="0"/>
          <c:order val="0"/>
          <c:tx>
            <c:strRef>
              <c:f>pivot!$H$29</c:f>
              <c:strCache>
                <c:ptCount val="1"/>
                <c:pt idx="0">
                  <c:v>Total</c:v>
                </c:pt>
              </c:strCache>
            </c:strRef>
          </c:tx>
          <c:spPr>
            <a:solidFill>
              <a:srgbClr val="63483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pivot!$G$30:$G$35</c:f>
              <c:strCache>
                <c:ptCount val="5"/>
                <c:pt idx="0">
                  <c:v>Barista Espresso</c:v>
                </c:pt>
                <c:pt idx="1">
                  <c:v>Brewed Black tea</c:v>
                </c:pt>
                <c:pt idx="2">
                  <c:v>Brewed Chai tea</c:v>
                </c:pt>
                <c:pt idx="3">
                  <c:v>Gourmet brewed coffee</c:v>
                </c:pt>
                <c:pt idx="4">
                  <c:v>Hot chocolate</c:v>
                </c:pt>
              </c:strCache>
            </c:strRef>
          </c:cat>
          <c:val>
            <c:numRef>
              <c:f>pivot!$H$30:$H$35</c:f>
              <c:numCache>
                <c:formatCode>\$#,##0.00;\(\$#,##0.00\);\$#,##0.00</c:formatCode>
                <c:ptCount val="5"/>
                <c:pt idx="0">
                  <c:v>91406.2</c:v>
                </c:pt>
                <c:pt idx="1">
                  <c:v>47932</c:v>
                </c:pt>
                <c:pt idx="2">
                  <c:v>77081.950000000012</c:v>
                </c:pt>
                <c:pt idx="3">
                  <c:v>70034.600000000006</c:v>
                </c:pt>
                <c:pt idx="4">
                  <c:v>72416</c:v>
                </c:pt>
              </c:numCache>
            </c:numRef>
          </c:val>
          <c:extLst>
            <c:ext xmlns:c16="http://schemas.microsoft.com/office/drawing/2014/chart" uri="{C3380CC4-5D6E-409C-BE32-E72D297353CC}">
              <c16:uniqueId val="{00000000-DE7D-4B0E-86FE-AE29BF3FE549}"/>
            </c:ext>
          </c:extLst>
        </c:ser>
        <c:dLbls>
          <c:dLblPos val="outEnd"/>
          <c:showLegendKey val="0"/>
          <c:showVal val="1"/>
          <c:showCatName val="0"/>
          <c:showSerName val="0"/>
          <c:showPercent val="0"/>
          <c:showBubbleSize val="0"/>
        </c:dLbls>
        <c:gapWidth val="219"/>
        <c:overlap val="-27"/>
        <c:axId val="831639488"/>
        <c:axId val="831623648"/>
      </c:barChart>
      <c:catAx>
        <c:axId val="8316394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23648"/>
        <c:crosses val="autoZero"/>
        <c:auto val="1"/>
        <c:lblAlgn val="ctr"/>
        <c:lblOffset val="100"/>
        <c:noMultiLvlLbl val="0"/>
      </c:catAx>
      <c:valAx>
        <c:axId val="831623648"/>
        <c:scaling>
          <c:orientation val="minMax"/>
        </c:scaling>
        <c:delete val="0"/>
        <c:axPos val="l"/>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0.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16394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DBC1AC"/>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[excel coffee sales final.xlsx]pivot!PivotTable1</c:name>
    <c:fmtId val="38"/>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solidFill>
                  <a:srgbClr val="38220F"/>
                </a:solidFill>
              </a:rPr>
              <a:t>Quantity</a:t>
            </a:r>
            <a:r>
              <a:rPr lang="en-US" b="1" baseline="0">
                <a:solidFill>
                  <a:srgbClr val="38220F"/>
                </a:solidFill>
              </a:rPr>
              <a:t> Ordered Based On Hours</a:t>
            </a:r>
            <a:endParaRPr lang="en-US" b="1">
              <a:solidFill>
                <a:srgbClr val="38220F"/>
              </a:solidFill>
            </a:endParaRPr>
          </a:p>
        </c:rich>
      </c:tx>
      <c:layout>
        <c:manualLayout>
          <c:xMode val="edge"/>
          <c:yMode val="edge"/>
          <c:x val="0.24469444444444444"/>
          <c:y val="4.2601154213521474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circle"/>
          <c:size val="5"/>
          <c:spPr>
            <a:solidFill>
              <a:schemeClr val="accent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w="28575" cap="rnd">
            <a:solidFill>
              <a:schemeClr val="accent2"/>
            </a:solidFill>
            <a:round/>
          </a:ln>
          <a:effectLst/>
        </c:spPr>
        <c:marker>
          <c:symbol val="circle"/>
          <c:size val="5"/>
          <c:spPr>
            <a:solidFill>
              <a:srgbClr val="63483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w="28575" cap="rnd">
            <a:solidFill>
              <a:schemeClr val="accent2"/>
            </a:solidFill>
            <a:round/>
          </a:ln>
          <a:effectLst/>
        </c:spPr>
        <c:marker>
          <c:symbol val="circle"/>
          <c:size val="5"/>
          <c:spPr>
            <a:solidFill>
              <a:srgbClr val="63483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w="28575" cap="rnd">
            <a:solidFill>
              <a:schemeClr val="accent2"/>
            </a:solidFill>
            <a:round/>
          </a:ln>
          <a:effectLst/>
        </c:spPr>
        <c:marker>
          <c:symbol val="circle"/>
          <c:size val="5"/>
          <c:spPr>
            <a:solidFill>
              <a:srgbClr val="634832"/>
            </a:solidFill>
            <a:ln w="9525">
              <a:solidFill>
                <a:schemeClr val="accent2"/>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013648293963254"/>
          <c:y val="0.15319444444444447"/>
          <c:w val="0.80653018372703422"/>
          <c:h val="0.64919213080016369"/>
        </c:manualLayout>
      </c:layout>
      <c:lineChart>
        <c:grouping val="standard"/>
        <c:varyColors val="0"/>
        <c:ser>
          <c:idx val="0"/>
          <c:order val="0"/>
          <c:tx>
            <c:strRef>
              <c:f>pivot!$B$3</c:f>
              <c:strCache>
                <c:ptCount val="1"/>
                <c:pt idx="0">
                  <c:v>Total</c:v>
                </c:pt>
              </c:strCache>
            </c:strRef>
          </c:tx>
          <c:spPr>
            <a:ln w="28575" cap="rnd">
              <a:solidFill>
                <a:schemeClr val="accent2"/>
              </a:solidFill>
              <a:round/>
            </a:ln>
            <a:effectLst/>
          </c:spPr>
          <c:marker>
            <c:symbol val="circle"/>
            <c:size val="5"/>
            <c:spPr>
              <a:solidFill>
                <a:srgbClr val="634832"/>
              </a:solidFill>
              <a:ln w="9525">
                <a:solidFill>
                  <a:schemeClr val="accent2"/>
                </a:solidFill>
              </a:ln>
              <a:effectLst/>
            </c:spPr>
          </c:marker>
          <c:cat>
            <c:strRef>
              <c:f>pivot!$A$4:$A$19</c:f>
              <c:strCache>
                <c:ptCount val="15"/>
                <c:pt idx="0">
                  <c:v>6</c:v>
                </c:pt>
                <c:pt idx="1">
                  <c:v>7</c:v>
                </c:pt>
                <c:pt idx="2">
                  <c:v>8</c:v>
                </c:pt>
                <c:pt idx="3">
                  <c:v>9</c:v>
                </c:pt>
                <c:pt idx="4">
                  <c:v>10</c:v>
                </c:pt>
                <c:pt idx="5">
                  <c:v>11</c:v>
                </c:pt>
                <c:pt idx="6">
                  <c:v>12</c:v>
                </c:pt>
                <c:pt idx="7">
                  <c:v>13</c:v>
                </c:pt>
                <c:pt idx="8">
                  <c:v>14</c:v>
                </c:pt>
                <c:pt idx="9">
                  <c:v>15</c:v>
                </c:pt>
                <c:pt idx="10">
                  <c:v>16</c:v>
                </c:pt>
                <c:pt idx="11">
                  <c:v>17</c:v>
                </c:pt>
                <c:pt idx="12">
                  <c:v>18</c:v>
                </c:pt>
                <c:pt idx="13">
                  <c:v>19</c:v>
                </c:pt>
                <c:pt idx="14">
                  <c:v>20</c:v>
                </c:pt>
              </c:strCache>
            </c:strRef>
          </c:cat>
          <c:val>
            <c:numRef>
              <c:f>pivot!$B$4:$B$19</c:f>
              <c:numCache>
                <c:formatCode>General</c:formatCode>
                <c:ptCount val="15"/>
                <c:pt idx="0">
                  <c:v>6865</c:v>
                </c:pt>
                <c:pt idx="1">
                  <c:v>19449</c:v>
                </c:pt>
                <c:pt idx="2">
                  <c:v>25197</c:v>
                </c:pt>
                <c:pt idx="3">
                  <c:v>25370</c:v>
                </c:pt>
                <c:pt idx="4">
                  <c:v>26713</c:v>
                </c:pt>
                <c:pt idx="5">
                  <c:v>14035</c:v>
                </c:pt>
                <c:pt idx="6">
                  <c:v>12690</c:v>
                </c:pt>
                <c:pt idx="7">
                  <c:v>12439</c:v>
                </c:pt>
                <c:pt idx="8">
                  <c:v>12907</c:v>
                </c:pt>
                <c:pt idx="9">
                  <c:v>12923</c:v>
                </c:pt>
                <c:pt idx="10">
                  <c:v>12881</c:v>
                </c:pt>
                <c:pt idx="11">
                  <c:v>12700</c:v>
                </c:pt>
                <c:pt idx="12">
                  <c:v>10826</c:v>
                </c:pt>
                <c:pt idx="13">
                  <c:v>8595</c:v>
                </c:pt>
                <c:pt idx="14">
                  <c:v>880</c:v>
                </c:pt>
              </c:numCache>
            </c:numRef>
          </c:val>
          <c:smooth val="0"/>
          <c:extLst>
            <c:ext xmlns:c16="http://schemas.microsoft.com/office/drawing/2014/chart" uri="{C3380CC4-5D6E-409C-BE32-E72D297353CC}">
              <c16:uniqueId val="{00000000-0953-44CC-AD71-B8FBA8ADCE94}"/>
            </c:ext>
          </c:extLst>
        </c:ser>
        <c:dLbls>
          <c:showLegendKey val="0"/>
          <c:showVal val="0"/>
          <c:showCatName val="0"/>
          <c:showSerName val="0"/>
          <c:showPercent val="0"/>
          <c:showBubbleSize val="0"/>
        </c:dLbls>
        <c:marker val="1"/>
        <c:smooth val="0"/>
        <c:axId val="1021565712"/>
        <c:axId val="1021552752"/>
      </c:lineChart>
      <c:catAx>
        <c:axId val="1021565712"/>
        <c:scaling>
          <c:orientation val="minMax"/>
        </c:scaling>
        <c:delete val="0"/>
        <c:axPos val="b"/>
        <c:title>
          <c:tx>
            <c:rich>
              <a:bodyPr rot="0" spcFirstLastPara="1" vertOverflow="ellipsis" vert="horz" wrap="square" anchor="ctr" anchorCtr="1"/>
              <a:lstStyle/>
              <a:p>
                <a:pPr>
                  <a:defRPr sz="1000" b="1" i="0" u="none" strike="noStrike" kern="1200" baseline="0">
                    <a:solidFill>
                      <a:srgbClr val="38220F"/>
                    </a:solidFill>
                    <a:latin typeface="+mn-lt"/>
                    <a:ea typeface="+mn-ea"/>
                    <a:cs typeface="+mn-cs"/>
                  </a:defRPr>
                </a:pPr>
                <a:r>
                  <a:rPr lang="en-IN" b="1">
                    <a:solidFill>
                      <a:srgbClr val="38220F"/>
                    </a:solidFill>
                  </a:rPr>
                  <a:t>time</a:t>
                </a:r>
              </a:p>
            </c:rich>
          </c:tx>
          <c:layout>
            <c:manualLayout>
              <c:xMode val="edge"/>
              <c:yMode val="edge"/>
              <c:x val="0.45977646544181977"/>
              <c:y val="0.89514034369557016"/>
            </c:manualLayout>
          </c:layout>
          <c:overlay val="0"/>
          <c:spPr>
            <a:noFill/>
            <a:ln>
              <a:noFill/>
            </a:ln>
            <a:effectLst/>
          </c:spPr>
          <c:txPr>
            <a:bodyPr rot="0" spcFirstLastPara="1" vertOverflow="ellipsis" vert="horz" wrap="square" anchor="ctr" anchorCtr="1"/>
            <a:lstStyle/>
            <a:p>
              <a:pPr>
                <a:defRPr sz="1000" b="1" i="0" u="none" strike="noStrike" kern="1200" baseline="0">
                  <a:solidFill>
                    <a:srgbClr val="38220F"/>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1552752"/>
        <c:crosses val="autoZero"/>
        <c:auto val="1"/>
        <c:lblAlgn val="ctr"/>
        <c:lblOffset val="100"/>
        <c:noMultiLvlLbl val="0"/>
      </c:catAx>
      <c:valAx>
        <c:axId val="1021552752"/>
        <c:scaling>
          <c:orientation val="minMax"/>
        </c:scaling>
        <c:delete val="0"/>
        <c:axPos val="l"/>
        <c:majorGridlines>
          <c:spPr>
            <a:ln w="9525" cap="flat" cmpd="sng" algn="ctr">
              <a:solidFill>
                <a:srgbClr val="38220F"/>
              </a:solidFill>
              <a:round/>
            </a:ln>
            <a:effectLst/>
          </c:spPr>
        </c:majorGridlines>
        <c:title>
          <c:tx>
            <c:rich>
              <a:bodyPr rot="-5400000" spcFirstLastPara="1" vertOverflow="ellipsis" vert="horz" wrap="square" anchor="ctr" anchorCtr="1"/>
              <a:lstStyle/>
              <a:p>
                <a:pPr>
                  <a:defRPr sz="1000" b="1" i="0" u="none" strike="noStrike" kern="1200" baseline="0">
                    <a:solidFill>
                      <a:srgbClr val="38220F"/>
                    </a:solidFill>
                    <a:latin typeface="+mn-lt"/>
                    <a:ea typeface="+mn-ea"/>
                    <a:cs typeface="+mn-cs"/>
                  </a:defRPr>
                </a:pPr>
                <a:r>
                  <a:rPr lang="en-IN" b="1">
                    <a:solidFill>
                      <a:srgbClr val="38220F"/>
                    </a:solidFill>
                  </a:rPr>
                  <a:t>Quantity</a:t>
                </a:r>
              </a:p>
            </c:rich>
          </c:tx>
          <c:overlay val="0"/>
          <c:spPr>
            <a:noFill/>
            <a:ln>
              <a:noFill/>
            </a:ln>
            <a:effectLst/>
          </c:spPr>
          <c:txPr>
            <a:bodyPr rot="-5400000" spcFirstLastPara="1" vertOverflow="ellipsis" vert="horz" wrap="square" anchor="ctr" anchorCtr="1"/>
            <a:lstStyle/>
            <a:p>
              <a:pPr>
                <a:defRPr sz="1000" b="1" i="0" u="none" strike="noStrike" kern="1200" baseline="0">
                  <a:solidFill>
                    <a:srgbClr val="38220F"/>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1565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DBC1AC"/>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EE062-B26B-DE63-B3BC-85ED25DBD9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9DAE2C-4BA9-4D8E-A084-98A26AEF8C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1B8891-6FED-0A03-36EF-D25C3A7C2BCC}"/>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5" name="Footer Placeholder 4">
            <a:extLst>
              <a:ext uri="{FF2B5EF4-FFF2-40B4-BE49-F238E27FC236}">
                <a16:creationId xmlns:a16="http://schemas.microsoft.com/office/drawing/2014/main" id="{F731E0C6-5779-B50C-C832-AAF14A0C0F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83D440-2396-DF90-DC1D-131BED2945CB}"/>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30932396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543B-C162-20CF-ACFA-310B4CE55C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FC46E7-5D7B-5624-EF2B-1DF6D9C9BB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F6588B-1984-EE25-51C6-C766B0E69767}"/>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5" name="Footer Placeholder 4">
            <a:extLst>
              <a:ext uri="{FF2B5EF4-FFF2-40B4-BE49-F238E27FC236}">
                <a16:creationId xmlns:a16="http://schemas.microsoft.com/office/drawing/2014/main" id="{8BFEF885-A0E0-C7F2-B0D1-7FD8275561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3949BB-4CAE-E164-08A6-9BA7353150C8}"/>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14470625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6FE96-ECA6-257E-94A0-2D604444D3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84B6B4-7FFA-9A3C-1608-150AC7B41F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67864C-B972-A9B8-C752-98EBB00989E6}"/>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5" name="Footer Placeholder 4">
            <a:extLst>
              <a:ext uri="{FF2B5EF4-FFF2-40B4-BE49-F238E27FC236}">
                <a16:creationId xmlns:a16="http://schemas.microsoft.com/office/drawing/2014/main" id="{2B2E5846-8DAA-DDF5-F1CF-CC8E17C81A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871F72-72A3-4AC9-6CBC-5652EDCEED43}"/>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22474191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9659-36C1-66F6-A1DA-668D373D02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25DA2D-2BAD-1D9A-85EA-DAF8FAB7B4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B6AEA2-14CA-7599-17D3-49DD4321D6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EA8112-4173-D692-8754-1364C5F81F61}"/>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6" name="Footer Placeholder 5">
            <a:extLst>
              <a:ext uri="{FF2B5EF4-FFF2-40B4-BE49-F238E27FC236}">
                <a16:creationId xmlns:a16="http://schemas.microsoft.com/office/drawing/2014/main" id="{2BAB1226-150C-7FA1-2FA2-11F6A5C1A4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A5732E-148D-893A-0DBC-FAECAC6F6827}"/>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32301040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644C2-D486-DB53-D049-5DFBE3F034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05743E-272D-66B5-8177-5F1299D08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E6CB2F-5932-45AA-E1DF-E8061E9E3E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9F7AB2-9CD6-F17F-3498-D06FEDA346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24EE25-503C-2BD6-F1CF-DB64D4A81E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865921-5082-69CB-0F9C-1DBB13E1FD02}"/>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8" name="Footer Placeholder 7">
            <a:extLst>
              <a:ext uri="{FF2B5EF4-FFF2-40B4-BE49-F238E27FC236}">
                <a16:creationId xmlns:a16="http://schemas.microsoft.com/office/drawing/2014/main" id="{D63B0031-4E3D-9AB3-AB20-1F0E0F6CBF9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11DA3B-9546-7D2D-1602-A3EC6BFEB96B}"/>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3738307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F705A-694D-786A-CD9E-9051A6D87C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AD0A404-FDF4-DE90-C7FF-F85E06E1AB9C}"/>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4" name="Footer Placeholder 3">
            <a:extLst>
              <a:ext uri="{FF2B5EF4-FFF2-40B4-BE49-F238E27FC236}">
                <a16:creationId xmlns:a16="http://schemas.microsoft.com/office/drawing/2014/main" id="{30AD9878-A26B-6FE4-3C74-22C43A1789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0859E8-C7B4-6AA5-5527-E8F5E7BC7F31}"/>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368977812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5EAC01-2826-3DBC-0361-83FBE002A200}"/>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3" name="Footer Placeholder 2">
            <a:extLst>
              <a:ext uri="{FF2B5EF4-FFF2-40B4-BE49-F238E27FC236}">
                <a16:creationId xmlns:a16="http://schemas.microsoft.com/office/drawing/2014/main" id="{E46F7360-BF34-2276-B3CC-D02F878C1CC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6EB5ED7-7B26-87AD-223B-ADF7729B14D4}"/>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273296499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17F37-6851-5B14-8606-FD8A5E1BEF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8E1E29-E5FC-0DD0-9055-B7179CB67B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D9E1A0-0B5A-CDBB-BDE1-CF5FA1C91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BDB420-BCDC-C9B1-98E7-3774593FD255}"/>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6" name="Footer Placeholder 5">
            <a:extLst>
              <a:ext uri="{FF2B5EF4-FFF2-40B4-BE49-F238E27FC236}">
                <a16:creationId xmlns:a16="http://schemas.microsoft.com/office/drawing/2014/main" id="{8A2B9E1A-24E2-8C29-5F55-1672A0DB50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088604-2AF5-9488-B936-7EE6D3A16950}"/>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103933343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223D7-0912-955A-8701-F3D7A9980D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79D217E-4907-E3DD-A300-F617524D78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06D88D5-8C20-E30F-55B1-A9EC110234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829E1F-BA19-266A-7A61-427BEC95CEE9}"/>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6" name="Footer Placeholder 5">
            <a:extLst>
              <a:ext uri="{FF2B5EF4-FFF2-40B4-BE49-F238E27FC236}">
                <a16:creationId xmlns:a16="http://schemas.microsoft.com/office/drawing/2014/main" id="{02A09E57-F232-C200-4B35-FF87DD6232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1FEA00-D5C2-A992-3547-D3DA5FDA9B8D}"/>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332129023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34446-F741-FEFC-FABA-2834F815E1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26D603-4C6F-6D18-F603-D236911637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93B31C-7F01-3F30-029F-45A2A0FF61CC}"/>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5" name="Footer Placeholder 4">
            <a:extLst>
              <a:ext uri="{FF2B5EF4-FFF2-40B4-BE49-F238E27FC236}">
                <a16:creationId xmlns:a16="http://schemas.microsoft.com/office/drawing/2014/main" id="{5E7CEFC6-0DF9-FBD1-52EA-F280E38114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C13120-94D9-5A9D-EE4D-98E18B347237}"/>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36175489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07EB8E-ACB3-778E-A4F6-0525A098B7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2EEDCF-3A88-945E-06A2-C428C5FC72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1B5E9D-D5E8-6EFC-700B-CCC5BD158EFA}"/>
              </a:ext>
            </a:extLst>
          </p:cNvPr>
          <p:cNvSpPr>
            <a:spLocks noGrp="1"/>
          </p:cNvSpPr>
          <p:nvPr>
            <p:ph type="dt" sz="half" idx="10"/>
          </p:nvPr>
        </p:nvSpPr>
        <p:spPr/>
        <p:txBody>
          <a:bodyPr/>
          <a:lstStyle/>
          <a:p>
            <a:fld id="{5E3C8F45-9228-46CE-8545-00B28E7AB942}" type="datetimeFigureOut">
              <a:rPr lang="en-IN" smtClean="0"/>
              <a:t>08-11-2025</a:t>
            </a:fld>
            <a:endParaRPr lang="en-IN"/>
          </a:p>
        </p:txBody>
      </p:sp>
      <p:sp>
        <p:nvSpPr>
          <p:cNvPr id="5" name="Footer Placeholder 4">
            <a:extLst>
              <a:ext uri="{FF2B5EF4-FFF2-40B4-BE49-F238E27FC236}">
                <a16:creationId xmlns:a16="http://schemas.microsoft.com/office/drawing/2014/main" id="{16601316-C9A9-8276-9AFE-1EBCD4CEF7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F954DD2-2D41-3C80-8F6B-14CAEA1E4812}"/>
              </a:ext>
            </a:extLst>
          </p:cNvPr>
          <p:cNvSpPr>
            <a:spLocks noGrp="1"/>
          </p:cNvSpPr>
          <p:nvPr>
            <p:ph type="sldNum" sz="quarter" idx="12"/>
          </p:nvPr>
        </p:nvSpPr>
        <p:spPr/>
        <p:txBody>
          <a:bodyPr/>
          <a:lstStyle/>
          <a:p>
            <a:fld id="{32AB33BD-1E49-4839-8228-A8145FDA1BA2}" type="slidenum">
              <a:rPr lang="en-IN" smtClean="0"/>
              <a:t>‹#›</a:t>
            </a:fld>
            <a:endParaRPr lang="en-IN"/>
          </a:p>
        </p:txBody>
      </p:sp>
    </p:spTree>
    <p:extLst>
      <p:ext uri="{BB962C8B-B14F-4D97-AF65-F5344CB8AC3E}">
        <p14:creationId xmlns:p14="http://schemas.microsoft.com/office/powerpoint/2010/main" val="296246766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770BAFD-122B-FE2B-9693-0B8F8A4666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5A46E1-FEC7-1077-E738-305DEF6BB1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840B3A-023B-296F-F2D1-0221BD07AC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3C8F45-9228-46CE-8545-00B28E7AB942}" type="datetimeFigureOut">
              <a:rPr lang="en-IN" smtClean="0"/>
              <a:t>08-11-2025</a:t>
            </a:fld>
            <a:endParaRPr lang="en-IN"/>
          </a:p>
        </p:txBody>
      </p:sp>
      <p:sp>
        <p:nvSpPr>
          <p:cNvPr id="5" name="Footer Placeholder 4">
            <a:extLst>
              <a:ext uri="{FF2B5EF4-FFF2-40B4-BE49-F238E27FC236}">
                <a16:creationId xmlns:a16="http://schemas.microsoft.com/office/drawing/2014/main" id="{2AE195C7-0D2E-62F4-CBD3-2C2845AEF8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1FD9DCB-98B9-DE7B-0A38-A7484DD695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AB33BD-1E49-4839-8228-A8145FDA1BA2}" type="slidenum">
              <a:rPr lang="en-IN" smtClean="0"/>
              <a:t>‹#›</a:t>
            </a:fld>
            <a:endParaRPr lang="en-IN"/>
          </a:p>
        </p:txBody>
      </p:sp>
    </p:spTree>
    <p:extLst>
      <p:ext uri="{BB962C8B-B14F-4D97-AF65-F5344CB8AC3E}">
        <p14:creationId xmlns:p14="http://schemas.microsoft.com/office/powerpoint/2010/main" val="3866668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 Id="rId4" Type="http://schemas.openxmlformats.org/officeDocument/2006/relationships/chart" Target="../charts/char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FC93C-9B05-4844-C6C9-18D208B2173A}"/>
              </a:ext>
            </a:extLst>
          </p:cNvPr>
          <p:cNvSpPr>
            <a:spLocks noGrp="1"/>
          </p:cNvSpPr>
          <p:nvPr>
            <p:ph type="title"/>
          </p:nvPr>
        </p:nvSpPr>
        <p:spPr>
          <a:xfrm>
            <a:off x="4100051" y="1293403"/>
            <a:ext cx="7876664" cy="2133907"/>
          </a:xfrm>
        </p:spPr>
        <p:txBody>
          <a:bodyPr/>
          <a:lstStyle/>
          <a:p>
            <a:r>
              <a:rPr lang="en-IN" dirty="0">
                <a:solidFill>
                  <a:schemeClr val="accent2">
                    <a:lumMod val="50000"/>
                  </a:schemeClr>
                </a:solidFill>
                <a:latin typeface="Arial Black" panose="020B0A04020102020204" pitchFamily="34" charset="0"/>
              </a:rPr>
              <a:t>COFFFEE SHOP</a:t>
            </a:r>
            <a:br>
              <a:rPr lang="en-IN" dirty="0">
                <a:solidFill>
                  <a:schemeClr val="accent2">
                    <a:lumMod val="50000"/>
                  </a:schemeClr>
                </a:solidFill>
                <a:latin typeface="Arial Black" panose="020B0A04020102020204" pitchFamily="34" charset="0"/>
              </a:rPr>
            </a:br>
            <a:r>
              <a:rPr lang="en-IN" dirty="0">
                <a:solidFill>
                  <a:schemeClr val="accent2">
                    <a:lumMod val="50000"/>
                  </a:schemeClr>
                </a:solidFill>
                <a:latin typeface="Arial Black" panose="020B0A04020102020204" pitchFamily="34" charset="0"/>
              </a:rPr>
              <a:t>SALES ANALYSIS</a:t>
            </a:r>
          </a:p>
        </p:txBody>
      </p:sp>
      <p:sp>
        <p:nvSpPr>
          <p:cNvPr id="3" name="Text Placeholder 2">
            <a:extLst>
              <a:ext uri="{FF2B5EF4-FFF2-40B4-BE49-F238E27FC236}">
                <a16:creationId xmlns:a16="http://schemas.microsoft.com/office/drawing/2014/main" id="{86705C3D-3100-BA46-21F3-4AB0EA225128}"/>
              </a:ext>
            </a:extLst>
          </p:cNvPr>
          <p:cNvSpPr>
            <a:spLocks noGrp="1"/>
          </p:cNvSpPr>
          <p:nvPr>
            <p:ph type="body" idx="1"/>
          </p:nvPr>
        </p:nvSpPr>
        <p:spPr>
          <a:xfrm>
            <a:off x="4375353" y="3930701"/>
            <a:ext cx="4336027" cy="1500187"/>
          </a:xfrm>
        </p:spPr>
        <p:txBody>
          <a:bodyPr/>
          <a:lstStyle/>
          <a:p>
            <a:r>
              <a:rPr lang="en-IN" dirty="0">
                <a:solidFill>
                  <a:schemeClr val="accent2">
                    <a:lumMod val="50000"/>
                  </a:schemeClr>
                </a:solidFill>
                <a:latin typeface="Bahnschrift SemiBold Condensed" panose="020B0502040204020203" pitchFamily="34" charset="0"/>
              </a:rPr>
              <a:t>PRESENTED BY – POOJA MAYKAR</a:t>
            </a:r>
          </a:p>
          <a:p>
            <a:r>
              <a:rPr lang="en-IN" dirty="0">
                <a:solidFill>
                  <a:schemeClr val="accent2">
                    <a:lumMod val="50000"/>
                  </a:schemeClr>
                </a:solidFill>
                <a:latin typeface="Bahnschrift SemiBold Condensed" panose="020B0502040204020203" pitchFamily="34" charset="0"/>
              </a:rPr>
              <a:t>GUIDE-  PROF. ANANTA PATIL</a:t>
            </a:r>
          </a:p>
          <a:p>
            <a:r>
              <a:rPr lang="en-IN" dirty="0">
                <a:solidFill>
                  <a:schemeClr val="accent2">
                    <a:lumMod val="50000"/>
                  </a:schemeClr>
                </a:solidFill>
                <a:latin typeface="Bahnschrift SemiBold Condensed" panose="020B0502040204020203" pitchFamily="34" charset="0"/>
              </a:rPr>
              <a:t>(ANUDIP FOUNDATION)</a:t>
            </a:r>
          </a:p>
        </p:txBody>
      </p:sp>
      <p:pic>
        <p:nvPicPr>
          <p:cNvPr id="5" name="Picture 4" descr="Roasted coffee beans filling the frame">
            <a:extLst>
              <a:ext uri="{FF2B5EF4-FFF2-40B4-BE49-F238E27FC236}">
                <a16:creationId xmlns:a16="http://schemas.microsoft.com/office/drawing/2014/main" id="{1A59A116-471C-BCA2-49BA-C0958C4596E8}"/>
              </a:ext>
            </a:extLst>
          </p:cNvPr>
          <p:cNvPicPr>
            <a:picLocks noChangeAspect="1"/>
          </p:cNvPicPr>
          <p:nvPr/>
        </p:nvPicPr>
        <p:blipFill>
          <a:blip r:embed="rId2">
            <a:extLst>
              <a:ext uri="{28A0092B-C50C-407E-A947-70E740481C1C}">
                <a14:useLocalDpi xmlns:a14="http://schemas.microsoft.com/office/drawing/2010/main" val="0"/>
              </a:ext>
            </a:extLst>
          </a:blip>
          <a:srcRect l="47164" t="25" r="280" b="-25"/>
          <a:stretch>
            <a:fillRect/>
          </a:stretch>
        </p:blipFill>
        <p:spPr>
          <a:xfrm>
            <a:off x="0" y="0"/>
            <a:ext cx="3989195" cy="6858000"/>
          </a:xfrm>
          <a:prstGeom prst="rect">
            <a:avLst/>
          </a:prstGeom>
        </p:spPr>
      </p:pic>
    </p:spTree>
    <p:extLst>
      <p:ext uri="{BB962C8B-B14F-4D97-AF65-F5344CB8AC3E}">
        <p14:creationId xmlns:p14="http://schemas.microsoft.com/office/powerpoint/2010/main" val="340020566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F34B6-6ECC-6EA5-9DC0-76F276F28AF1}"/>
              </a:ext>
            </a:extLst>
          </p:cNvPr>
          <p:cNvSpPr>
            <a:spLocks noGrp="1"/>
          </p:cNvSpPr>
          <p:nvPr>
            <p:ph type="title"/>
          </p:nvPr>
        </p:nvSpPr>
        <p:spPr/>
        <p:txBody>
          <a:bodyPr>
            <a:normAutofit/>
          </a:bodyPr>
          <a:lstStyle/>
          <a:p>
            <a:r>
              <a:rPr lang="en-IN" sz="6600" b="1" dirty="0">
                <a:solidFill>
                  <a:schemeClr val="accent2">
                    <a:lumMod val="50000"/>
                  </a:schemeClr>
                </a:solidFill>
                <a:latin typeface="Britannic Bold" panose="020B0903060703020204" pitchFamily="34" charset="0"/>
              </a:rPr>
              <a:t>objective</a:t>
            </a:r>
          </a:p>
        </p:txBody>
      </p:sp>
      <p:sp>
        <p:nvSpPr>
          <p:cNvPr id="3" name="Content Placeholder 2">
            <a:extLst>
              <a:ext uri="{FF2B5EF4-FFF2-40B4-BE49-F238E27FC236}">
                <a16:creationId xmlns:a16="http://schemas.microsoft.com/office/drawing/2014/main" id="{7E23ED4A-1B80-93F8-7B55-E0BBDE5F2ACE}"/>
              </a:ext>
            </a:extLst>
          </p:cNvPr>
          <p:cNvSpPr>
            <a:spLocks noGrp="1"/>
          </p:cNvSpPr>
          <p:nvPr>
            <p:ph idx="1"/>
          </p:nvPr>
        </p:nvSpPr>
        <p:spPr>
          <a:xfrm>
            <a:off x="-341643" y="1838848"/>
            <a:ext cx="11505362" cy="4551904"/>
          </a:xfrm>
        </p:spPr>
        <p:txBody>
          <a:bodyPr>
            <a:normAutofit/>
          </a:bodyPr>
          <a:lstStyle/>
          <a:p>
            <a:pPr lvl="2"/>
            <a:r>
              <a:rPr lang="en-IN" sz="3200" dirty="0">
                <a:solidFill>
                  <a:schemeClr val="accent2">
                    <a:lumMod val="75000"/>
                  </a:schemeClr>
                </a:solidFill>
                <a:latin typeface="Bahnschrift Condensed" panose="020B0502040204020203" pitchFamily="34" charset="0"/>
              </a:rPr>
              <a:t>This project focuses on analysing sales data of a coffee shop to understand business performance</a:t>
            </a:r>
          </a:p>
          <a:p>
            <a:pPr lvl="2"/>
            <a:r>
              <a:rPr lang="en-IN" sz="3200" dirty="0">
                <a:solidFill>
                  <a:schemeClr val="accent2">
                    <a:lumMod val="75000"/>
                  </a:schemeClr>
                </a:solidFill>
                <a:latin typeface="Bahnschrift Condensed" panose="020B0502040204020203" pitchFamily="34" charset="0"/>
              </a:rPr>
              <a:t>The main objective is to identify sales trends, customer preferences, and key areas for improvement</a:t>
            </a:r>
          </a:p>
          <a:p>
            <a:pPr lvl="2"/>
            <a:r>
              <a:rPr lang="en-IN" sz="3200" dirty="0">
                <a:solidFill>
                  <a:schemeClr val="accent2">
                    <a:lumMod val="75000"/>
                  </a:schemeClr>
                </a:solidFill>
                <a:latin typeface="Bahnschrift Condensed" panose="020B0502040204020203" pitchFamily="34" charset="0"/>
              </a:rPr>
              <a:t>The analysis includes evaluating total sales, popular products, and peak business hours.</a:t>
            </a:r>
          </a:p>
          <a:p>
            <a:pPr lvl="2"/>
            <a:r>
              <a:rPr lang="en-IN" sz="3200" dirty="0">
                <a:solidFill>
                  <a:schemeClr val="accent2">
                    <a:lumMod val="75000"/>
                  </a:schemeClr>
                </a:solidFill>
                <a:latin typeface="Bahnschrift Condensed" panose="020B0502040204020203" pitchFamily="34" charset="0"/>
              </a:rPr>
              <a:t>Insights from this data-driven decision help in increasing revenue and customer satisfaction.</a:t>
            </a:r>
          </a:p>
          <a:p>
            <a:pPr lvl="2"/>
            <a:endParaRPr lang="en-IN" sz="3600" dirty="0">
              <a:solidFill>
                <a:schemeClr val="accent2">
                  <a:lumMod val="75000"/>
                </a:schemeClr>
              </a:solidFill>
              <a:latin typeface="Bell MT" panose="02020503060305020303" pitchFamily="18" charset="0"/>
            </a:endParaRPr>
          </a:p>
        </p:txBody>
      </p:sp>
    </p:spTree>
    <p:extLst>
      <p:ext uri="{BB962C8B-B14F-4D97-AF65-F5344CB8AC3E}">
        <p14:creationId xmlns:p14="http://schemas.microsoft.com/office/powerpoint/2010/main" val="44200939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CA4D7-9C3C-79B4-E22B-E965DBC12A7D}"/>
              </a:ext>
            </a:extLst>
          </p:cNvPr>
          <p:cNvSpPr>
            <a:spLocks noGrp="1"/>
          </p:cNvSpPr>
          <p:nvPr>
            <p:ph type="ctrTitle"/>
          </p:nvPr>
        </p:nvSpPr>
        <p:spPr>
          <a:xfrm>
            <a:off x="127819" y="86186"/>
            <a:ext cx="9144000" cy="1624627"/>
          </a:xfrm>
        </p:spPr>
        <p:txBody>
          <a:bodyPr>
            <a:normAutofit/>
          </a:bodyPr>
          <a:lstStyle/>
          <a:p>
            <a:pPr algn="r"/>
            <a:r>
              <a:rPr lang="en-IN" sz="6600" dirty="0">
                <a:solidFill>
                  <a:schemeClr val="accent2">
                    <a:lumMod val="50000"/>
                  </a:schemeClr>
                </a:solidFill>
                <a:latin typeface="Britannic Bold" panose="020B0903060703020204" pitchFamily="34" charset="0"/>
              </a:rPr>
              <a:t>Recommended analysis</a:t>
            </a:r>
          </a:p>
        </p:txBody>
      </p:sp>
      <p:sp>
        <p:nvSpPr>
          <p:cNvPr id="3" name="Subtitle 2">
            <a:extLst>
              <a:ext uri="{FF2B5EF4-FFF2-40B4-BE49-F238E27FC236}">
                <a16:creationId xmlns:a16="http://schemas.microsoft.com/office/drawing/2014/main" id="{E4EC2DEA-D0FF-BD0C-EA67-006434DC5249}"/>
              </a:ext>
            </a:extLst>
          </p:cNvPr>
          <p:cNvSpPr>
            <a:spLocks noGrp="1"/>
          </p:cNvSpPr>
          <p:nvPr>
            <p:ph type="subTitle" idx="1"/>
          </p:nvPr>
        </p:nvSpPr>
        <p:spPr>
          <a:xfrm>
            <a:off x="471947" y="1986115"/>
            <a:ext cx="9448801" cy="5515897"/>
          </a:xfrm>
        </p:spPr>
        <p:txBody>
          <a:bodyPr>
            <a:normAutofit/>
          </a:bodyPr>
          <a:lstStyle/>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How do sales very by day of the week and hour of the day?</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Are there any peak times for sales activity?</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What is the total sales revenue for each month?</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 how do sales vary across different store locations?</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What is the average price/order per person?</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Which product are the best selling in items of quantity and revenue?</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Hoe do sales vary by products category and type?</a:t>
            </a:r>
          </a:p>
        </p:txBody>
      </p:sp>
    </p:spTree>
    <p:extLst>
      <p:ext uri="{BB962C8B-B14F-4D97-AF65-F5344CB8AC3E}">
        <p14:creationId xmlns:p14="http://schemas.microsoft.com/office/powerpoint/2010/main" val="27448079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04A58F00-DF65-5A45-9DA9-302FCC6119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BB5733-ADD3-E673-3F63-1202B3F0151C}"/>
              </a:ext>
            </a:extLst>
          </p:cNvPr>
          <p:cNvSpPr>
            <a:spLocks noGrp="1"/>
          </p:cNvSpPr>
          <p:nvPr>
            <p:ph type="title"/>
          </p:nvPr>
        </p:nvSpPr>
        <p:spPr>
          <a:xfrm>
            <a:off x="533400" y="0"/>
            <a:ext cx="10449232" cy="1325563"/>
          </a:xfrm>
        </p:spPr>
        <p:txBody>
          <a:bodyPr>
            <a:normAutofit/>
          </a:bodyPr>
          <a:lstStyle/>
          <a:p>
            <a:pPr algn="ctr"/>
            <a:r>
              <a:rPr lang="en-IN" sz="4800" b="1" dirty="0">
                <a:solidFill>
                  <a:schemeClr val="accent2">
                    <a:lumMod val="50000"/>
                  </a:schemeClr>
                </a:solidFill>
                <a:latin typeface="Britannic Bold" panose="020B0903060703020204" pitchFamily="34" charset="0"/>
              </a:rPr>
              <a:t>Key performance indicators(KPI’s):-</a:t>
            </a:r>
          </a:p>
        </p:txBody>
      </p:sp>
      <p:sp>
        <p:nvSpPr>
          <p:cNvPr id="3" name="Content Placeholder 2">
            <a:extLst>
              <a:ext uri="{FF2B5EF4-FFF2-40B4-BE49-F238E27FC236}">
                <a16:creationId xmlns:a16="http://schemas.microsoft.com/office/drawing/2014/main" id="{4C09A3D6-EC73-EBFC-0779-66F6C839971E}"/>
              </a:ext>
            </a:extLst>
          </p:cNvPr>
          <p:cNvSpPr>
            <a:spLocks noGrp="1"/>
          </p:cNvSpPr>
          <p:nvPr>
            <p:ph idx="1"/>
          </p:nvPr>
        </p:nvSpPr>
        <p:spPr>
          <a:xfrm>
            <a:off x="-1034979" y="1246075"/>
            <a:ext cx="12208746" cy="5335595"/>
          </a:xfrm>
        </p:spPr>
        <p:txBody>
          <a:bodyPr>
            <a:noAutofit/>
          </a:bodyPr>
          <a:lstStyle/>
          <a:p>
            <a:pPr lvl="4"/>
            <a:r>
              <a:rPr lang="en-IN" sz="3200" b="1" dirty="0">
                <a:solidFill>
                  <a:schemeClr val="accent2">
                    <a:lumMod val="75000"/>
                  </a:schemeClr>
                </a:solidFill>
                <a:latin typeface="Bahnschrift Condensed" panose="020B0502040204020203" pitchFamily="34" charset="0"/>
              </a:rPr>
              <a:t>TOTAL SALES:- </a:t>
            </a:r>
            <a:r>
              <a:rPr lang="en-US" sz="2800" dirty="0">
                <a:solidFill>
                  <a:schemeClr val="accent2">
                    <a:lumMod val="50000"/>
                  </a:schemeClr>
                </a:solidFill>
                <a:latin typeface="Bahnschrift Condensed" panose="020B0502040204020203" pitchFamily="34" charset="0"/>
              </a:rPr>
              <a:t>This KPI represents the total revenue generated by the coffee shop during the selected period. It helps to measure the overall business performance and growth in terms of income</a:t>
            </a:r>
            <a:r>
              <a:rPr lang="en-US" sz="2800" dirty="0">
                <a:solidFill>
                  <a:schemeClr val="accent3">
                    <a:lumMod val="75000"/>
                  </a:schemeClr>
                </a:solidFill>
                <a:latin typeface="Bahnschrift Condensed" panose="020B0502040204020203" pitchFamily="34" charset="0"/>
              </a:rPr>
              <a:t>.</a:t>
            </a:r>
            <a:endParaRPr lang="en-IN" sz="2800" dirty="0">
              <a:solidFill>
                <a:schemeClr val="accent3">
                  <a:lumMod val="75000"/>
                </a:schemeClr>
              </a:solidFill>
              <a:latin typeface="Bahnschrift Condensed" panose="020B0502040204020203" pitchFamily="34" charset="0"/>
            </a:endParaRPr>
          </a:p>
          <a:p>
            <a:pPr lvl="4"/>
            <a:endParaRPr lang="en-IN" sz="3200" dirty="0">
              <a:solidFill>
                <a:schemeClr val="accent2">
                  <a:lumMod val="75000"/>
                </a:schemeClr>
              </a:solidFill>
              <a:latin typeface="Bahnschrift Condensed" panose="020B0502040204020203" pitchFamily="34" charset="0"/>
            </a:endParaRPr>
          </a:p>
          <a:p>
            <a:pPr lvl="4"/>
            <a:endParaRPr lang="en-IN" sz="3200" dirty="0">
              <a:solidFill>
                <a:schemeClr val="accent2">
                  <a:lumMod val="75000"/>
                </a:schemeClr>
              </a:solidFill>
              <a:latin typeface="Bahnschrift Condensed" panose="020B0502040204020203" pitchFamily="34" charset="0"/>
            </a:endParaRPr>
          </a:p>
          <a:p>
            <a:pPr marL="1828800" lvl="4" indent="0">
              <a:buNone/>
            </a:pPr>
            <a:endParaRPr lang="en-IN" sz="3200" b="1" dirty="0">
              <a:solidFill>
                <a:schemeClr val="accent2">
                  <a:lumMod val="75000"/>
                </a:schemeClr>
              </a:solidFill>
              <a:latin typeface="Bahnschrift Condensed" panose="020B0502040204020203" pitchFamily="34" charset="0"/>
            </a:endParaRPr>
          </a:p>
          <a:p>
            <a:pPr lvl="4"/>
            <a:r>
              <a:rPr lang="en-IN" sz="3200" b="1" dirty="0">
                <a:solidFill>
                  <a:schemeClr val="accent2">
                    <a:lumMod val="75000"/>
                  </a:schemeClr>
                </a:solidFill>
                <a:latin typeface="Bahnschrift Condensed" panose="020B0502040204020203" pitchFamily="34" charset="0"/>
              </a:rPr>
              <a:t>TOTAL  FOOTFALL:-</a:t>
            </a:r>
            <a:r>
              <a:rPr lang="en-US" sz="3200" dirty="0">
                <a:latin typeface="Bahnschrift Condensed" panose="020B0502040204020203" pitchFamily="34" charset="0"/>
              </a:rPr>
              <a:t> </a:t>
            </a:r>
            <a:r>
              <a:rPr lang="en-US" sz="2800" dirty="0">
                <a:solidFill>
                  <a:schemeClr val="accent2">
                    <a:lumMod val="50000"/>
                  </a:schemeClr>
                </a:solidFill>
                <a:latin typeface="Bahnschrift Condensed" panose="020B0502040204020203" pitchFamily="34" charset="0"/>
              </a:rPr>
              <a:t>This KPI shows the total number of customers visiting the coffee shop, which helps identify the busiest hours and customer flow trends. It is useful for managing staff schedules and improving customer service during rush hours.</a:t>
            </a:r>
            <a:endParaRPr lang="en-IN" sz="2800" dirty="0">
              <a:solidFill>
                <a:schemeClr val="accent2">
                  <a:lumMod val="50000"/>
                </a:schemeClr>
              </a:solidFill>
              <a:latin typeface="Bahnschrift Condensed" panose="020B0502040204020203" pitchFamily="34" charset="0"/>
            </a:endParaRPr>
          </a:p>
          <a:p>
            <a:pPr lvl="4"/>
            <a:endParaRPr lang="en-IN" sz="3200" dirty="0">
              <a:solidFill>
                <a:schemeClr val="accent2">
                  <a:lumMod val="75000"/>
                </a:schemeClr>
              </a:solidFill>
              <a:latin typeface="Bahnschrift Condensed" panose="020B0502040204020203" pitchFamily="34" charset="0"/>
            </a:endParaRPr>
          </a:p>
        </p:txBody>
      </p:sp>
      <p:sp>
        <p:nvSpPr>
          <p:cNvPr id="8" name="Rectangle: Rounded Corners 7">
            <a:extLst>
              <a:ext uri="{FF2B5EF4-FFF2-40B4-BE49-F238E27FC236}">
                <a16:creationId xmlns:a16="http://schemas.microsoft.com/office/drawing/2014/main" id="{3A1CB520-DBDB-E4C9-C059-30D2DF858B20}"/>
              </a:ext>
            </a:extLst>
          </p:cNvPr>
          <p:cNvSpPr/>
          <p:nvPr/>
        </p:nvSpPr>
        <p:spPr>
          <a:xfrm>
            <a:off x="3846571" y="2735137"/>
            <a:ext cx="2920180" cy="885190"/>
          </a:xfrm>
          <a:prstGeom prst="roundRect">
            <a:avLst/>
          </a:prstGeom>
          <a:solidFill>
            <a:srgbClr val="DBC1A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en-US" sz="2000" b="0" i="0" u="none" strike="noStrike" dirty="0">
              <a:solidFill>
                <a:srgbClr val="000000"/>
              </a:solidFill>
              <a:latin typeface="Arial Black" panose="020B0A04020102020204" pitchFamily="34" charset="0"/>
              <a:cs typeface="Calibri"/>
            </a:endParaRPr>
          </a:p>
          <a:p>
            <a:pPr algn="ctr"/>
            <a:r>
              <a:rPr lang="en-US" sz="2000" b="0" i="0" u="none" strike="noStrike" dirty="0">
                <a:solidFill>
                  <a:srgbClr val="000000"/>
                </a:solidFill>
                <a:latin typeface="Arial Black" panose="020B0A04020102020204" pitchFamily="34" charset="0"/>
                <a:cs typeface="Calibri"/>
              </a:rPr>
              <a:t>Total Sales</a:t>
            </a:r>
          </a:p>
          <a:p>
            <a:pPr algn="ctr"/>
            <a:fld id="{DFBD6719-9AF1-434A-B3EC-484B230619E4}" type="TxLink">
              <a:rPr lang="en-US" sz="2400" b="0" i="0" u="none" strike="noStrike">
                <a:solidFill>
                  <a:srgbClr val="000000"/>
                </a:solidFill>
                <a:latin typeface="Calibri"/>
                <a:cs typeface="Calibri"/>
              </a:rPr>
              <a:pPr algn="ctr"/>
              <a:t>$698,812.33</a:t>
            </a:fld>
            <a:endParaRPr lang="en-US" sz="2400" b="0" i="0" u="none" strike="noStrike" dirty="0">
              <a:solidFill>
                <a:srgbClr val="000000"/>
              </a:solidFill>
              <a:latin typeface="Calibri"/>
              <a:cs typeface="Calibri"/>
            </a:endParaRPr>
          </a:p>
          <a:p>
            <a:pPr algn="ctr"/>
            <a:endParaRPr lang="en-US" sz="2000" dirty="0"/>
          </a:p>
        </p:txBody>
      </p:sp>
      <p:sp>
        <p:nvSpPr>
          <p:cNvPr id="9" name="Rectangle: Rounded Corners 8">
            <a:extLst>
              <a:ext uri="{FF2B5EF4-FFF2-40B4-BE49-F238E27FC236}">
                <a16:creationId xmlns:a16="http://schemas.microsoft.com/office/drawing/2014/main" id="{25493565-2008-0AC7-29D3-FDA14F9C6154}"/>
              </a:ext>
            </a:extLst>
          </p:cNvPr>
          <p:cNvSpPr/>
          <p:nvPr/>
        </p:nvSpPr>
        <p:spPr>
          <a:xfrm>
            <a:off x="3846571" y="5611925"/>
            <a:ext cx="2920181" cy="885190"/>
          </a:xfrm>
          <a:prstGeom prst="roundRect">
            <a:avLst/>
          </a:prstGeom>
          <a:solidFill>
            <a:srgbClr val="DBC1A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2000" b="0" i="0" u="none" strike="noStrike" dirty="0">
                <a:solidFill>
                  <a:srgbClr val="000000"/>
                </a:solidFill>
                <a:latin typeface="Arial Black" panose="020B0A04020102020204" pitchFamily="34" charset="0"/>
                <a:ea typeface="Calibri"/>
                <a:cs typeface="Calibri"/>
              </a:rPr>
              <a:t>Total</a:t>
            </a:r>
            <a:r>
              <a:rPr lang="en-US" sz="2000" b="0" i="0" u="none" strike="noStrike" baseline="0" dirty="0">
                <a:solidFill>
                  <a:srgbClr val="000000"/>
                </a:solidFill>
                <a:latin typeface="Arial Black" panose="020B0A04020102020204" pitchFamily="34" charset="0"/>
                <a:ea typeface="Calibri"/>
                <a:cs typeface="Calibri"/>
              </a:rPr>
              <a:t> Footfall</a:t>
            </a:r>
            <a:endParaRPr lang="en-US" sz="2000" b="0" i="0" u="none" strike="noStrike" dirty="0">
              <a:solidFill>
                <a:srgbClr val="000000"/>
              </a:solidFill>
              <a:latin typeface="Arial Black" panose="020B0A04020102020204" pitchFamily="34" charset="0"/>
              <a:ea typeface="Calibri"/>
              <a:cs typeface="Calibri"/>
            </a:endParaRPr>
          </a:p>
          <a:p>
            <a:pPr algn="ctr"/>
            <a:fld id="{8E25B6F0-CC1C-4EA0-9B01-833662C77AE7}" type="TxLink">
              <a:rPr lang="en-US" sz="2400" b="0" i="0" u="none" strike="noStrike">
                <a:solidFill>
                  <a:srgbClr val="000000"/>
                </a:solidFill>
                <a:latin typeface="Calibri"/>
                <a:ea typeface="Calibri"/>
                <a:cs typeface="Calibri"/>
              </a:rPr>
              <a:pPr algn="ctr"/>
              <a:t>149116</a:t>
            </a:fld>
            <a:endParaRPr lang="en-US" sz="2400" b="0" i="0" u="none" strike="noStrike" dirty="0">
              <a:solidFill>
                <a:srgbClr val="000000"/>
              </a:solidFill>
              <a:latin typeface="Calibri"/>
              <a:ea typeface="Calibri"/>
              <a:cs typeface="Calibri"/>
            </a:endParaRPr>
          </a:p>
        </p:txBody>
      </p:sp>
    </p:spTree>
    <p:extLst>
      <p:ext uri="{BB962C8B-B14F-4D97-AF65-F5344CB8AC3E}">
        <p14:creationId xmlns:p14="http://schemas.microsoft.com/office/powerpoint/2010/main" val="834429540"/>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14F51-837B-9EA7-D257-F66233A01E0C}"/>
              </a:ext>
            </a:extLst>
          </p:cNvPr>
          <p:cNvSpPr>
            <a:spLocks noGrp="1"/>
          </p:cNvSpPr>
          <p:nvPr>
            <p:ph type="ctrTitle"/>
          </p:nvPr>
        </p:nvSpPr>
        <p:spPr>
          <a:xfrm>
            <a:off x="-758165" y="0"/>
            <a:ext cx="12698160" cy="791452"/>
          </a:xfrm>
        </p:spPr>
        <p:txBody>
          <a:bodyPr>
            <a:normAutofit fontScale="90000"/>
          </a:bodyPr>
          <a:lstStyle/>
          <a:p>
            <a:r>
              <a:rPr lang="en-IN" dirty="0">
                <a:solidFill>
                  <a:schemeClr val="accent3">
                    <a:lumMod val="75000"/>
                  </a:schemeClr>
                </a:solidFill>
                <a:latin typeface="Britannic Bold" panose="020B0903060703020204" pitchFamily="34" charset="0"/>
              </a:rPr>
              <a:t>DASHBOARD OVERVIEW</a:t>
            </a:r>
          </a:p>
        </p:txBody>
      </p:sp>
      <p:sp>
        <p:nvSpPr>
          <p:cNvPr id="3" name="Subtitle 2">
            <a:extLst>
              <a:ext uri="{FF2B5EF4-FFF2-40B4-BE49-F238E27FC236}">
                <a16:creationId xmlns:a16="http://schemas.microsoft.com/office/drawing/2014/main" id="{91689D17-F230-2FBB-EA0C-637479B44D82}"/>
              </a:ext>
            </a:extLst>
          </p:cNvPr>
          <p:cNvSpPr>
            <a:spLocks noGrp="1"/>
          </p:cNvSpPr>
          <p:nvPr>
            <p:ph type="subTitle" idx="1"/>
          </p:nvPr>
        </p:nvSpPr>
        <p:spPr>
          <a:xfrm>
            <a:off x="780655" y="1419276"/>
            <a:ext cx="9144000" cy="4607898"/>
          </a:xfrm>
        </p:spPr>
        <p:txBody>
          <a:bodyPr/>
          <a:lstStyle/>
          <a:p>
            <a:endParaRPr lang="en-IN" dirty="0"/>
          </a:p>
        </p:txBody>
      </p:sp>
      <p:graphicFrame>
        <p:nvGraphicFramePr>
          <p:cNvPr id="13" name="Chart 12">
            <a:extLst>
              <a:ext uri="{FF2B5EF4-FFF2-40B4-BE49-F238E27FC236}">
                <a16:creationId xmlns:a16="http://schemas.microsoft.com/office/drawing/2014/main" id="{D3E351D5-6BFE-4CBC-8E8B-B54E5A0836D0}"/>
              </a:ext>
            </a:extLst>
          </p:cNvPr>
          <p:cNvGraphicFramePr>
            <a:graphicFrameLocks/>
          </p:cNvGraphicFramePr>
          <p:nvPr>
            <p:extLst>
              <p:ext uri="{D42A27DB-BD31-4B8C-83A1-F6EECF244321}">
                <p14:modId xmlns:p14="http://schemas.microsoft.com/office/powerpoint/2010/main" val="1139430377"/>
              </p:ext>
            </p:extLst>
          </p:nvPr>
        </p:nvGraphicFramePr>
        <p:xfrm>
          <a:off x="200644" y="985462"/>
          <a:ext cx="4301019" cy="247900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0796FA90-F7AA-D4A8-C7C0-196BA9C932CD}"/>
              </a:ext>
            </a:extLst>
          </p:cNvPr>
          <p:cNvGraphicFramePr>
            <a:graphicFrameLocks/>
          </p:cNvGraphicFramePr>
          <p:nvPr>
            <p:extLst>
              <p:ext uri="{D42A27DB-BD31-4B8C-83A1-F6EECF244321}">
                <p14:modId xmlns:p14="http://schemas.microsoft.com/office/powerpoint/2010/main" val="157673014"/>
              </p:ext>
            </p:extLst>
          </p:nvPr>
        </p:nvGraphicFramePr>
        <p:xfrm>
          <a:off x="4656498" y="944224"/>
          <a:ext cx="3564330" cy="248477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14">
            <a:extLst>
              <a:ext uri="{FF2B5EF4-FFF2-40B4-BE49-F238E27FC236}">
                <a16:creationId xmlns:a16="http://schemas.microsoft.com/office/drawing/2014/main" id="{2D835977-60CD-4C22-898D-1AC09FD7530D}"/>
              </a:ext>
            </a:extLst>
          </p:cNvPr>
          <p:cNvGraphicFramePr>
            <a:graphicFrameLocks/>
          </p:cNvGraphicFramePr>
          <p:nvPr>
            <p:extLst>
              <p:ext uri="{D42A27DB-BD31-4B8C-83A1-F6EECF244321}">
                <p14:modId xmlns:p14="http://schemas.microsoft.com/office/powerpoint/2010/main" val="199256"/>
              </p:ext>
            </p:extLst>
          </p:nvPr>
        </p:nvGraphicFramePr>
        <p:xfrm>
          <a:off x="8375665" y="1026380"/>
          <a:ext cx="3564330" cy="246191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6" name="Chart 15">
            <a:extLst>
              <a:ext uri="{FF2B5EF4-FFF2-40B4-BE49-F238E27FC236}">
                <a16:creationId xmlns:a16="http://schemas.microsoft.com/office/drawing/2014/main" id="{0B980748-42A3-425E-99B8-01EEEE4C077A}"/>
              </a:ext>
            </a:extLst>
          </p:cNvPr>
          <p:cNvGraphicFramePr>
            <a:graphicFrameLocks/>
          </p:cNvGraphicFramePr>
          <p:nvPr>
            <p:extLst>
              <p:ext uri="{D42A27DB-BD31-4B8C-83A1-F6EECF244321}">
                <p14:modId xmlns:p14="http://schemas.microsoft.com/office/powerpoint/2010/main" val="2898478347"/>
              </p:ext>
            </p:extLst>
          </p:nvPr>
        </p:nvGraphicFramePr>
        <p:xfrm>
          <a:off x="200644" y="3723225"/>
          <a:ext cx="4301018" cy="272955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7" name="Chart 16">
            <a:extLst>
              <a:ext uri="{FF2B5EF4-FFF2-40B4-BE49-F238E27FC236}">
                <a16:creationId xmlns:a16="http://schemas.microsoft.com/office/drawing/2014/main" id="{ACEA3267-1B1F-4AAC-9597-3FADAD629961}"/>
              </a:ext>
            </a:extLst>
          </p:cNvPr>
          <p:cNvGraphicFramePr>
            <a:graphicFrameLocks/>
          </p:cNvGraphicFramePr>
          <p:nvPr>
            <p:extLst>
              <p:ext uri="{D42A27DB-BD31-4B8C-83A1-F6EECF244321}">
                <p14:modId xmlns:p14="http://schemas.microsoft.com/office/powerpoint/2010/main" val="865765512"/>
              </p:ext>
            </p:extLst>
          </p:nvPr>
        </p:nvGraphicFramePr>
        <p:xfrm>
          <a:off x="4602444" y="3731436"/>
          <a:ext cx="3599185" cy="272955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Chart 17">
            <a:extLst>
              <a:ext uri="{FF2B5EF4-FFF2-40B4-BE49-F238E27FC236}">
                <a16:creationId xmlns:a16="http://schemas.microsoft.com/office/drawing/2014/main" id="{4A7F72E3-4E3E-436A-9BCE-EEEE692FE3D9}"/>
              </a:ext>
            </a:extLst>
          </p:cNvPr>
          <p:cNvGraphicFramePr>
            <a:graphicFrameLocks/>
          </p:cNvGraphicFramePr>
          <p:nvPr>
            <p:extLst>
              <p:ext uri="{D42A27DB-BD31-4B8C-83A1-F6EECF244321}">
                <p14:modId xmlns:p14="http://schemas.microsoft.com/office/powerpoint/2010/main" val="3084054566"/>
              </p:ext>
            </p:extLst>
          </p:nvPr>
        </p:nvGraphicFramePr>
        <p:xfrm>
          <a:off x="8375665" y="3738465"/>
          <a:ext cx="3688945" cy="2699072"/>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122055059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F987B-2DA0-2075-766B-09657D6220DC}"/>
              </a:ext>
            </a:extLst>
          </p:cNvPr>
          <p:cNvSpPr>
            <a:spLocks noGrp="1"/>
          </p:cNvSpPr>
          <p:nvPr>
            <p:ph type="title"/>
          </p:nvPr>
        </p:nvSpPr>
        <p:spPr>
          <a:xfrm>
            <a:off x="346587" y="8411"/>
            <a:ext cx="5641258" cy="935355"/>
          </a:xfrm>
        </p:spPr>
        <p:txBody>
          <a:bodyPr/>
          <a:lstStyle/>
          <a:p>
            <a:r>
              <a:rPr lang="en-IN" dirty="0">
                <a:solidFill>
                  <a:schemeClr val="accent2">
                    <a:lumMod val="50000"/>
                  </a:schemeClr>
                </a:solidFill>
                <a:latin typeface="Britannic Bold" panose="020B0903060703020204" pitchFamily="34" charset="0"/>
              </a:rPr>
              <a:t>INSIGHTS FROM DATA</a:t>
            </a:r>
          </a:p>
        </p:txBody>
      </p:sp>
      <p:graphicFrame>
        <p:nvGraphicFramePr>
          <p:cNvPr id="10" name="Chart 9">
            <a:extLst>
              <a:ext uri="{FF2B5EF4-FFF2-40B4-BE49-F238E27FC236}">
                <a16:creationId xmlns:a16="http://schemas.microsoft.com/office/drawing/2014/main" id="{BA8FB7CC-C2E6-17F4-8931-443F5C33CD24}"/>
              </a:ext>
            </a:extLst>
          </p:cNvPr>
          <p:cNvGraphicFramePr>
            <a:graphicFrameLocks/>
          </p:cNvGraphicFramePr>
          <p:nvPr>
            <p:extLst>
              <p:ext uri="{D42A27DB-BD31-4B8C-83A1-F6EECF244321}">
                <p14:modId xmlns:p14="http://schemas.microsoft.com/office/powerpoint/2010/main" val="4106508592"/>
              </p:ext>
            </p:extLst>
          </p:nvPr>
        </p:nvGraphicFramePr>
        <p:xfrm>
          <a:off x="6664960" y="200646"/>
          <a:ext cx="5268868" cy="2699072"/>
        </p:xfrm>
        <a:graphic>
          <a:graphicData uri="http://schemas.openxmlformats.org/drawingml/2006/chart">
            <c:chart xmlns:c="http://schemas.openxmlformats.org/drawingml/2006/chart" xmlns:r="http://schemas.openxmlformats.org/officeDocument/2006/relationships" r:id="rId2"/>
          </a:graphicData>
        </a:graphic>
      </p:graphicFrame>
      <p:sp>
        <p:nvSpPr>
          <p:cNvPr id="11" name="Rectangle 10">
            <a:extLst>
              <a:ext uri="{FF2B5EF4-FFF2-40B4-BE49-F238E27FC236}">
                <a16:creationId xmlns:a16="http://schemas.microsoft.com/office/drawing/2014/main" id="{B5155A84-0735-D982-FB49-A278CF4BFFDD}"/>
              </a:ext>
            </a:extLst>
          </p:cNvPr>
          <p:cNvSpPr/>
          <p:nvPr/>
        </p:nvSpPr>
        <p:spPr>
          <a:xfrm>
            <a:off x="6664960" y="2517335"/>
            <a:ext cx="5268868" cy="76476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2">
                    <a:lumMod val="50000"/>
                  </a:schemeClr>
                </a:solidFill>
                <a:latin typeface="Arial Narrow" panose="020B0606020202030204" pitchFamily="34" charset="0"/>
              </a:rPr>
              <a:t>Sales are highest on weekdays , indicating increased customers visits during this days</a:t>
            </a:r>
          </a:p>
        </p:txBody>
      </p:sp>
      <p:graphicFrame>
        <p:nvGraphicFramePr>
          <p:cNvPr id="12" name="Chart 11">
            <a:extLst>
              <a:ext uri="{FF2B5EF4-FFF2-40B4-BE49-F238E27FC236}">
                <a16:creationId xmlns:a16="http://schemas.microsoft.com/office/drawing/2014/main" id="{DA251340-AA60-0508-C86E-E69405099A89}"/>
              </a:ext>
            </a:extLst>
          </p:cNvPr>
          <p:cNvGraphicFramePr>
            <a:graphicFrameLocks/>
          </p:cNvGraphicFramePr>
          <p:nvPr>
            <p:extLst>
              <p:ext uri="{D42A27DB-BD31-4B8C-83A1-F6EECF244321}">
                <p14:modId xmlns:p14="http://schemas.microsoft.com/office/powerpoint/2010/main" val="2042212581"/>
              </p:ext>
            </p:extLst>
          </p:nvPr>
        </p:nvGraphicFramePr>
        <p:xfrm>
          <a:off x="6664960" y="3429000"/>
          <a:ext cx="5384800" cy="2410699"/>
        </p:xfrm>
        <a:graphic>
          <a:graphicData uri="http://schemas.openxmlformats.org/drawingml/2006/chart">
            <c:chart xmlns:c="http://schemas.openxmlformats.org/drawingml/2006/chart" xmlns:r="http://schemas.openxmlformats.org/officeDocument/2006/relationships" r:id="rId3"/>
          </a:graphicData>
        </a:graphic>
      </p:graphicFrame>
      <p:sp>
        <p:nvSpPr>
          <p:cNvPr id="13" name="Rectangle 12">
            <a:extLst>
              <a:ext uri="{FF2B5EF4-FFF2-40B4-BE49-F238E27FC236}">
                <a16:creationId xmlns:a16="http://schemas.microsoft.com/office/drawing/2014/main" id="{32B6C591-185D-4E71-6FE1-C867D7FACE26}"/>
              </a:ext>
            </a:extLst>
          </p:cNvPr>
          <p:cNvSpPr/>
          <p:nvPr/>
        </p:nvSpPr>
        <p:spPr>
          <a:xfrm>
            <a:off x="6593840" y="5839699"/>
            <a:ext cx="5455920" cy="77216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accent2">
                    <a:lumMod val="50000"/>
                  </a:schemeClr>
                </a:solidFill>
                <a:latin typeface="Arial Narrow" panose="020B0606020202030204" pitchFamily="34" charset="0"/>
              </a:rPr>
              <a:t>Barista espresso is the most selling product followed by brewed chai tea and hot chocolate</a:t>
            </a:r>
            <a:r>
              <a:rPr lang="en-IN" dirty="0"/>
              <a:t>.</a:t>
            </a:r>
          </a:p>
        </p:txBody>
      </p:sp>
      <p:graphicFrame>
        <p:nvGraphicFramePr>
          <p:cNvPr id="14" name="Content Placeholder 13">
            <a:extLst>
              <a:ext uri="{FF2B5EF4-FFF2-40B4-BE49-F238E27FC236}">
                <a16:creationId xmlns:a16="http://schemas.microsoft.com/office/drawing/2014/main" id="{529A168A-E757-C3B4-5AE7-CAF6CDF19F68}"/>
              </a:ext>
            </a:extLst>
          </p:cNvPr>
          <p:cNvGraphicFramePr>
            <a:graphicFrameLocks noGrp="1"/>
          </p:cNvGraphicFramePr>
          <p:nvPr>
            <p:ph idx="1"/>
            <p:extLst>
              <p:ext uri="{D42A27DB-BD31-4B8C-83A1-F6EECF244321}">
                <p14:modId xmlns:p14="http://schemas.microsoft.com/office/powerpoint/2010/main" val="3994477003"/>
              </p:ext>
            </p:extLst>
          </p:nvPr>
        </p:nvGraphicFramePr>
        <p:xfrm>
          <a:off x="592393" y="1106410"/>
          <a:ext cx="5503607" cy="3638310"/>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Rounded Corners 14">
            <a:extLst>
              <a:ext uri="{FF2B5EF4-FFF2-40B4-BE49-F238E27FC236}">
                <a16:creationId xmlns:a16="http://schemas.microsoft.com/office/drawing/2014/main" id="{7CCB8983-1A89-EF4B-EF47-50508174FCF1}"/>
              </a:ext>
            </a:extLst>
          </p:cNvPr>
          <p:cNvSpPr/>
          <p:nvPr/>
        </p:nvSpPr>
        <p:spPr>
          <a:xfrm>
            <a:off x="592393" y="4744720"/>
            <a:ext cx="5503607" cy="926526"/>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accent2">
                    <a:lumMod val="50000"/>
                  </a:schemeClr>
                </a:solidFill>
                <a:latin typeface="Arial Narrow" panose="020B0606020202030204" pitchFamily="34" charset="0"/>
              </a:rPr>
              <a:t>Peak hours are from 8 AM -11AM  and 5PM-8PM</a:t>
            </a:r>
          </a:p>
        </p:txBody>
      </p:sp>
    </p:spTree>
    <p:extLst>
      <p:ext uri="{BB962C8B-B14F-4D97-AF65-F5344CB8AC3E}">
        <p14:creationId xmlns:p14="http://schemas.microsoft.com/office/powerpoint/2010/main" val="11476397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084D-372D-CDC1-ED63-CAC354FB9710}"/>
              </a:ext>
            </a:extLst>
          </p:cNvPr>
          <p:cNvSpPr>
            <a:spLocks noGrp="1"/>
          </p:cNvSpPr>
          <p:nvPr>
            <p:ph type="ctrTitle"/>
          </p:nvPr>
        </p:nvSpPr>
        <p:spPr>
          <a:xfrm>
            <a:off x="314633" y="166176"/>
            <a:ext cx="9144000" cy="1013695"/>
          </a:xfrm>
        </p:spPr>
        <p:txBody>
          <a:bodyPr/>
          <a:lstStyle/>
          <a:p>
            <a:pPr algn="l"/>
            <a:r>
              <a:rPr lang="en-IN" dirty="0">
                <a:solidFill>
                  <a:schemeClr val="accent2">
                    <a:lumMod val="50000"/>
                  </a:schemeClr>
                </a:solidFill>
                <a:latin typeface="Britannic Bold" panose="020B0903060703020204" pitchFamily="34" charset="0"/>
              </a:rPr>
              <a:t>CONCLUSION</a:t>
            </a:r>
          </a:p>
        </p:txBody>
      </p:sp>
      <p:sp>
        <p:nvSpPr>
          <p:cNvPr id="3" name="Subtitle 2">
            <a:extLst>
              <a:ext uri="{FF2B5EF4-FFF2-40B4-BE49-F238E27FC236}">
                <a16:creationId xmlns:a16="http://schemas.microsoft.com/office/drawing/2014/main" id="{5310D68A-70FE-03DC-0024-487FFA4F3C0B}"/>
              </a:ext>
            </a:extLst>
          </p:cNvPr>
          <p:cNvSpPr>
            <a:spLocks noGrp="1"/>
          </p:cNvSpPr>
          <p:nvPr>
            <p:ph type="subTitle" idx="1"/>
          </p:nvPr>
        </p:nvSpPr>
        <p:spPr>
          <a:xfrm>
            <a:off x="442452" y="1396181"/>
            <a:ext cx="9684774" cy="4689987"/>
          </a:xfrm>
        </p:spPr>
        <p:txBody>
          <a:bodyPr>
            <a:normAutofit lnSpcReduction="10000"/>
          </a:bodyPr>
          <a:lstStyle/>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Increase weekend staffing to manage higher customer traffic efficiently.</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Promote Barista espresso and other top-selling products through offers to boost sales.</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Introduce loyalty programs to retain regular customers and attract new ones.</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Adjust opening hours to match peak customers times for better service.</a:t>
            </a:r>
          </a:p>
          <a:p>
            <a:pPr marL="342900" indent="-342900" algn="l">
              <a:buFont typeface="Wingdings" panose="05000000000000000000" pitchFamily="2" charset="2"/>
              <a:buChar char="v"/>
            </a:pPr>
            <a:r>
              <a:rPr lang="en-IN" sz="3200" dirty="0">
                <a:solidFill>
                  <a:schemeClr val="accent2">
                    <a:lumMod val="75000"/>
                  </a:schemeClr>
                </a:solidFill>
                <a:latin typeface="Bahnschrift Condensed" panose="020B0502040204020203" pitchFamily="34" charset="0"/>
              </a:rPr>
              <a:t>Monitor sales trends regularly to make informed business decisions</a:t>
            </a:r>
            <a:r>
              <a:rPr lang="en-IN" dirty="0">
                <a:solidFill>
                  <a:schemeClr val="accent2">
                    <a:lumMod val="50000"/>
                  </a:schemeClr>
                </a:solidFill>
                <a:latin typeface="Arial Narrow" panose="020B0606020202030204" pitchFamily="34" charset="0"/>
              </a:rPr>
              <a:t>.</a:t>
            </a:r>
            <a:endParaRPr lang="en-IN" dirty="0"/>
          </a:p>
        </p:txBody>
      </p:sp>
    </p:spTree>
    <p:extLst>
      <p:ext uri="{BB962C8B-B14F-4D97-AF65-F5344CB8AC3E}">
        <p14:creationId xmlns:p14="http://schemas.microsoft.com/office/powerpoint/2010/main" val="9418920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FF70F-8F7F-2A7B-7535-51E2671D81C3}"/>
              </a:ext>
            </a:extLst>
          </p:cNvPr>
          <p:cNvSpPr>
            <a:spLocks noGrp="1"/>
          </p:cNvSpPr>
          <p:nvPr>
            <p:ph type="ctrTitle"/>
          </p:nvPr>
        </p:nvSpPr>
        <p:spPr>
          <a:xfrm>
            <a:off x="1956618" y="1213385"/>
            <a:ext cx="10638503" cy="1966299"/>
          </a:xfrm>
        </p:spPr>
        <p:txBody>
          <a:bodyPr>
            <a:normAutofit/>
          </a:bodyPr>
          <a:lstStyle/>
          <a:p>
            <a:r>
              <a:rPr lang="en-IN" sz="9600" dirty="0">
                <a:solidFill>
                  <a:schemeClr val="accent3">
                    <a:lumMod val="75000"/>
                  </a:schemeClr>
                </a:solidFill>
                <a:latin typeface="Rockwell Extra Bold" panose="02060903040505020403" pitchFamily="18" charset="0"/>
              </a:rPr>
              <a:t>THANK YOU </a:t>
            </a:r>
          </a:p>
        </p:txBody>
      </p:sp>
      <p:sp>
        <p:nvSpPr>
          <p:cNvPr id="3" name="Subtitle 2">
            <a:extLst>
              <a:ext uri="{FF2B5EF4-FFF2-40B4-BE49-F238E27FC236}">
                <a16:creationId xmlns:a16="http://schemas.microsoft.com/office/drawing/2014/main" id="{D3473DB0-E0EF-DD1E-998A-3EECBBB8C5EE}"/>
              </a:ext>
            </a:extLst>
          </p:cNvPr>
          <p:cNvSpPr>
            <a:spLocks noGrp="1"/>
          </p:cNvSpPr>
          <p:nvPr>
            <p:ph type="subTitle" idx="1"/>
          </p:nvPr>
        </p:nvSpPr>
        <p:spPr>
          <a:xfrm>
            <a:off x="2912076" y="3179684"/>
            <a:ext cx="9144000" cy="1655762"/>
          </a:xfrm>
        </p:spPr>
        <p:txBody>
          <a:bodyPr>
            <a:normAutofit/>
          </a:bodyPr>
          <a:lstStyle/>
          <a:p>
            <a:r>
              <a:rPr lang="en-IN" sz="4000" dirty="0">
                <a:solidFill>
                  <a:schemeClr val="accent3">
                    <a:lumMod val="75000"/>
                  </a:schemeClr>
                </a:solidFill>
                <a:latin typeface="Rockwell Extra Bold" panose="02060903040505020403" pitchFamily="18" charset="0"/>
              </a:rPr>
              <a:t>FOR YOUR ATTENTION</a:t>
            </a:r>
          </a:p>
        </p:txBody>
      </p:sp>
      <p:pic>
        <p:nvPicPr>
          <p:cNvPr id="5" name="Graphic 4" descr="Coffee with solid fill">
            <a:extLst>
              <a:ext uri="{FF2B5EF4-FFF2-40B4-BE49-F238E27FC236}">
                <a16:creationId xmlns:a16="http://schemas.microsoft.com/office/drawing/2014/main" id="{9B82F88A-CED5-17AA-0A63-9769418041C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34297" y="1406013"/>
            <a:ext cx="3741173" cy="2814874"/>
          </a:xfrm>
          <a:prstGeom prst="rect">
            <a:avLst/>
          </a:prstGeom>
        </p:spPr>
      </p:pic>
    </p:spTree>
    <p:extLst>
      <p:ext uri="{BB962C8B-B14F-4D97-AF65-F5344CB8AC3E}">
        <p14:creationId xmlns:p14="http://schemas.microsoft.com/office/powerpoint/2010/main" val="7554165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rang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282</TotalTime>
  <Words>410</Words>
  <Application>Microsoft Office PowerPoint</Application>
  <PresentationFormat>Widescreen</PresentationFormat>
  <Paragraphs>60</Paragraphs>
  <Slides>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Arial</vt:lpstr>
      <vt:lpstr>Arial Black</vt:lpstr>
      <vt:lpstr>Arial Narrow</vt:lpstr>
      <vt:lpstr>Bahnschrift Condensed</vt:lpstr>
      <vt:lpstr>Bahnschrift SemiBold Condensed</vt:lpstr>
      <vt:lpstr>Bell MT</vt:lpstr>
      <vt:lpstr>Britannic Bold</vt:lpstr>
      <vt:lpstr>Calibri</vt:lpstr>
      <vt:lpstr>Calibri Light</vt:lpstr>
      <vt:lpstr>Rockwell Extra Bold</vt:lpstr>
      <vt:lpstr>Wingdings</vt:lpstr>
      <vt:lpstr>Office Theme</vt:lpstr>
      <vt:lpstr>COFFFEE SHOP SALES ANALYSIS</vt:lpstr>
      <vt:lpstr>objective</vt:lpstr>
      <vt:lpstr>Recommended analysis</vt:lpstr>
      <vt:lpstr>Key performance indicators(KPI’s):-</vt:lpstr>
      <vt:lpstr>DASHBOARD OVERVIEW</vt:lpstr>
      <vt:lpstr>INSIGHTS FROM DATA</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krishna orivkar</dc:creator>
  <cp:lastModifiedBy>poojamaykar7@gmail.com</cp:lastModifiedBy>
  <cp:revision>6</cp:revision>
  <dcterms:created xsi:type="dcterms:W3CDTF">2025-10-12T14:31:59Z</dcterms:created>
  <dcterms:modified xsi:type="dcterms:W3CDTF">2025-11-08T11:57:42Z</dcterms:modified>
</cp:coreProperties>
</file>